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update covers the full pipeline I built to reproduce the INSPECT benchmark from scratch — covering the EHR cohort file, the bugs I found and fixed, a faithfulness check against the official dataset, and the two available paths for CTPA image embeddings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 is a Stanford Shah Lab benchmark from NeurIPS 2023. It links 23,248 CTPA scans to full longitudinal EHR records from ~19,000 patients and defines 8 prediction tasks. What made it hard to reproduce is that the data is split across two separate access portals — which I'll explain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blocker was discovering that the data lives across two completely separate portals with no cross-reference. Redivis has the raw OMOP EHR tables; the AIMI portal has the actual ground-truth labels, study mapping, splits, and CTPA images. Neither portal links to the other in any official documentation — this was only resolved by emailing Prof. Fries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scripts form the pipeline. Step 1 downloads the raw OMOP tables. Step 2 runs the FEMR ETL — this is a legacy script from the original repo that compiles patient timelines into a binary database. Step 3 is the custom merge script I engineered, which joins the AIMI labels and canonical splits onto the study mapping to produce the master cohort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a full faithfulness check by joining our file against the official reference cohort from the AIMI portal. All 27 label columns match perfectly. Split assignments are correct with zero leakage. The 779 missing records are all attributable to PHI scrubbing removing their timestamps — and I verified that dropping them doesn't affect AUROC. The 12 duplicates were a pipeline bug I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bugs in the original merge_labels.py. The most significant was the dead OMOP I/O — the script was loading two large CSV files and doing expensive groupby aggregations, then joining the results, but never actually using any of those columns in the output logic. The README documentation described functionality that simply didn't exist. The duplicate issue was subtler — not leakage, but it inflated sample counts by 12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is what the paper actually did — ResNetV2 fine-tuned on RSPECT, then slice embeddings fed into a GRU. My current GCP run uses pre-fine-tuning weights with mean pooling, so it's an ablation baseline, not the paper's method. The missing step is RSPECT fine-tuning. Path B is the 2025 follow-up paper — they pretrained 3D backbones with time-to-event objectives and released the weights on HuggingFace, so you can just download and extract embeddings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GBM reproduces and actually exceeds the paper's numbers across all 8 tasks. The most likely explanation is that the June 2025 label file from AIMI has cleaner NLP labels than the version used in the original paper — the pe_positive_nlp column is generated by an NLP pipeline that may have been updated. I've reached out to the authors but haven't had confirmation yet. On the image side, CTPA vectorization is actively running on GCP with a pre-fine-tuning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clear next steps. Path A and B for image embeddings are the most time-sensitive since they unblock the multimodal fusion comparison. The author clarification on the AUROC gap is lower priority — the pipeline is structurally sound regardless of which label version was used in the original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1C7293">
              <a:alpha val="25000"/>
            </a:srgbClr>
          </a:solidFill>
          <a:ln w="12700">
            <a:solidFill>
              <a:srgbClr val="1C7293">
                <a:alpha val="25000"/>
              </a:srgbClr>
            </a:solidFill>
            <a:prstDash val="solid"/>
          </a:ln>
        </p:spPr>
      </p:sp>
      <p:sp>
        <p:nvSpPr>
          <p:cNvPr id="3" name="Shape 1"/>
          <p:cNvSpPr/>
          <p:nvPr/>
        </p:nvSpPr>
        <p:spPr>
          <a:xfrm>
            <a:off x="6400800" y="1097280"/>
            <a:ext cx="2286000" cy="2286000"/>
          </a:xfrm>
          <a:prstGeom prst="oval">
            <a:avLst/>
          </a:prstGeom>
          <a:solidFill>
            <a:srgbClr val="02C39A">
              <a:alpha val="20000"/>
            </a:srgbClr>
          </a:solidFill>
          <a:ln w="12700">
            <a:solidFill>
              <a:srgbClr val="02C39A">
                <a:alpha val="20000"/>
              </a:srgbClr>
            </a:solidFill>
            <a:prstDash val="solid"/>
          </a:ln>
        </p:spPr>
      </p:sp>
      <p:sp>
        <p:nvSpPr>
          <p:cNvPr id="4" name="Text 2"/>
          <p:cNvSpPr/>
          <p:nvPr/>
        </p:nvSpPr>
        <p:spPr>
          <a:xfrm>
            <a:off x="548640" y="822960"/>
            <a:ext cx="5486400" cy="640080"/>
          </a:xfrm>
          <a:prstGeom prst="rect">
            <a:avLst/>
          </a:prstGeom>
          <a:noFill/>
          <a:ln/>
        </p:spPr>
        <p:txBody>
          <a:bodyPr wrap="square" rtlCol="0" anchor="ctr"/>
          <a:lstStyle/>
          <a:p>
            <a:pPr indent="0" marL="0">
              <a:buNone/>
            </a:pPr>
            <a:r>
              <a:rPr lang="en-US" sz="1400" b="1" spc="600" kern="0" dirty="0">
                <a:solidFill>
                  <a:srgbClr val="02C39A"/>
                </a:solidFill>
                <a:latin typeface="Calibri" pitchFamily="34" charset="0"/>
                <a:ea typeface="Calibri" pitchFamily="34" charset="-122"/>
                <a:cs typeface="Calibri" pitchFamily="34" charset="-120"/>
              </a:rPr>
              <a:t>INSPECT</a:t>
            </a:r>
            <a:endParaRPr lang="en-US" sz="1400" dirty="0"/>
          </a:p>
        </p:txBody>
      </p:sp>
      <p:sp>
        <p:nvSpPr>
          <p:cNvPr id="5" name="Text 3"/>
          <p:cNvSpPr/>
          <p:nvPr/>
        </p:nvSpPr>
        <p:spPr>
          <a:xfrm>
            <a:off x="548640" y="1417320"/>
            <a:ext cx="68580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Baseline Reconstruction</a:t>
            </a:r>
            <a:endParaRPr lang="en-US" sz="4400" dirty="0"/>
          </a:p>
        </p:txBody>
      </p:sp>
      <p:sp>
        <p:nvSpPr>
          <p:cNvPr id="6" name="Text 4"/>
          <p:cNvSpPr/>
          <p:nvPr/>
        </p:nvSpPr>
        <p:spPr>
          <a:xfrm>
            <a:off x="548640" y="2423160"/>
            <a:ext cx="6400800" cy="502920"/>
          </a:xfrm>
          <a:prstGeom prst="rect">
            <a:avLst/>
          </a:prstGeom>
          <a:noFill/>
          <a:ln/>
        </p:spPr>
        <p:txBody>
          <a:bodyPr wrap="square" rtlCol="0" anchor="ctr"/>
          <a:lstStyle/>
          <a:p>
            <a:pPr indent="0" marL="0">
              <a:buNone/>
            </a:pPr>
            <a:r>
              <a:rPr lang="en-US" sz="2200" dirty="0">
                <a:solidFill>
                  <a:srgbClr val="A8D8EA"/>
                </a:solidFill>
                <a:latin typeface="Calibri" pitchFamily="34" charset="0"/>
                <a:ea typeface="Calibri" pitchFamily="34" charset="-122"/>
                <a:cs typeface="Calibri" pitchFamily="34" charset="-120"/>
              </a:rPr>
              <a:t>Pipeline Progress Update</a:t>
            </a:r>
            <a:endParaRPr lang="en-US" sz="2200" dirty="0"/>
          </a:p>
        </p:txBody>
      </p:sp>
      <p:sp>
        <p:nvSpPr>
          <p:cNvPr id="7" name="Shape 5"/>
          <p:cNvSpPr/>
          <p:nvPr/>
        </p:nvSpPr>
        <p:spPr>
          <a:xfrm>
            <a:off x="548640" y="3063240"/>
            <a:ext cx="3200400" cy="0"/>
          </a:xfrm>
          <a:prstGeom prst="line">
            <a:avLst/>
          </a:prstGeom>
          <a:noFill/>
          <a:ln w="19050">
            <a:solidFill>
              <a:srgbClr val="02C39A"/>
            </a:solidFill>
            <a:prstDash val="solid"/>
          </a:ln>
        </p:spPr>
      </p:sp>
      <p:sp>
        <p:nvSpPr>
          <p:cNvPr id="8" name="Text 6"/>
          <p:cNvSpPr/>
          <p:nvPr/>
        </p:nvSpPr>
        <p:spPr>
          <a:xfrm>
            <a:off x="548640" y="3246120"/>
            <a:ext cx="5486400" cy="320040"/>
          </a:xfrm>
          <a:prstGeom prst="rect">
            <a:avLst/>
          </a:prstGeom>
          <a:noFill/>
          <a:ln/>
        </p:spPr>
        <p:txBody>
          <a:bodyPr wrap="square" rtlCol="0" anchor="ctr"/>
          <a:lstStyle/>
          <a:p>
            <a:pPr indent="0" marL="0">
              <a:buNone/>
            </a:pPr>
            <a:r>
              <a:rPr lang="en-US" sz="1200" dirty="0">
                <a:solidFill>
                  <a:srgbClr val="7FB5C8"/>
                </a:solidFill>
                <a:latin typeface="Calibri" pitchFamily="34" charset="0"/>
                <a:ea typeface="Calibri" pitchFamily="34" charset="-122"/>
                <a:cs typeface="Calibri" pitchFamily="34" charset="-120"/>
              </a:rPr>
              <a:t>Steven Ravary  ·  July 2026</a:t>
            </a:r>
            <a:endParaRPr lang="en-US" sz="1200" dirty="0"/>
          </a:p>
        </p:txBody>
      </p:sp>
      <p:sp>
        <p:nvSpPr>
          <p:cNvPr id="9" name="Text 7"/>
          <p:cNvSpPr/>
          <p:nvPr/>
        </p:nvSpPr>
        <p:spPr>
          <a:xfrm>
            <a:off x="548640" y="3611880"/>
            <a:ext cx="6400800" cy="274320"/>
          </a:xfrm>
          <a:prstGeom prst="rect">
            <a:avLst/>
          </a:prstGeom>
          <a:noFill/>
          <a:ln/>
        </p:spPr>
        <p:txBody>
          <a:bodyPr wrap="square" rtlCol="0" anchor="ctr"/>
          <a:lstStyle/>
          <a:p>
            <a:pPr indent="0" marL="0">
              <a:buNone/>
            </a:pPr>
            <a:r>
              <a:rPr lang="en-US" sz="1100" dirty="0">
                <a:solidFill>
                  <a:srgbClr val="6A9AAD"/>
                </a:solidFill>
                <a:latin typeface="Calibri" pitchFamily="34" charset="0"/>
                <a:ea typeface="Calibri" pitchFamily="34" charset="-122"/>
                <a:cs typeface="Calibri" pitchFamily="34" charset="-120"/>
              </a:rPr>
              <a:t>Internship — INSPECT Custom Data Preprocessing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BACKGROUND</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600" b="1" dirty="0">
                <a:solidFill>
                  <a:srgbClr val="065A82"/>
                </a:solidFill>
                <a:latin typeface="Cambria" pitchFamily="34" charset="0"/>
                <a:ea typeface="Cambria" pitchFamily="34" charset="-122"/>
                <a:cs typeface="Cambria" pitchFamily="34" charset="-120"/>
              </a:rPr>
              <a:t>What is INSPECT?</a:t>
            </a:r>
            <a:endParaRPr lang="en-US" sz="3600" dirty="0"/>
          </a:p>
        </p:txBody>
      </p:sp>
      <p:sp>
        <p:nvSpPr>
          <p:cNvPr id="5" name="Text 3"/>
          <p:cNvSpPr/>
          <p:nvPr/>
        </p:nvSpPr>
        <p:spPr>
          <a:xfrm>
            <a:off x="457200" y="1143000"/>
            <a:ext cx="8229600" cy="594360"/>
          </a:xfrm>
          <a:prstGeom prst="rect">
            <a:avLst/>
          </a:prstGeom>
          <a:noFill/>
          <a:ln/>
        </p:spPr>
        <p:txBody>
          <a:bodyPr wrap="square" rtlCol="0" anchor="ctr"/>
          <a:lstStyle/>
          <a:p>
            <a:pPr indent="0" marL="0">
              <a:buNone/>
            </a:pPr>
            <a:r>
              <a:rPr lang="en-US" sz="1300" dirty="0">
                <a:solidFill>
                  <a:srgbClr val="4A6B7C"/>
                </a:solidFill>
                <a:latin typeface="Calibri" pitchFamily="34" charset="0"/>
                <a:ea typeface="Calibri" pitchFamily="34" charset="-122"/>
                <a:cs typeface="Calibri" pitchFamily="34" charset="-120"/>
              </a:rPr>
              <a:t>A Stanford multimodal benchmark combining longitudinal EHR data with CT pulmonary angiography (CTPA) images to predict pulmonary embolism (PE) diagnosis and long-term prognosis. Accepted at NeurIPS 2023.</a:t>
            </a:r>
            <a:endParaRPr lang="en-US" sz="1300" dirty="0"/>
          </a:p>
        </p:txBody>
      </p:sp>
      <p:sp>
        <p:nvSpPr>
          <p:cNvPr id="6" name="Shape 4"/>
          <p:cNvSpPr/>
          <p:nvPr/>
        </p:nvSpPr>
        <p:spPr>
          <a:xfrm>
            <a:off x="411480" y="1920240"/>
            <a:ext cx="1874520" cy="137160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7" name="Text 5"/>
          <p:cNvSpPr/>
          <p:nvPr/>
        </p:nvSpPr>
        <p:spPr>
          <a:xfrm>
            <a:off x="411480" y="2084832"/>
            <a:ext cx="1874520" cy="658368"/>
          </a:xfrm>
          <a:prstGeom prst="rect">
            <a:avLst/>
          </a:prstGeom>
          <a:noFill/>
          <a:ln/>
        </p:spPr>
        <p:txBody>
          <a:bodyPr wrap="square" lIns="0" tIns="0" rIns="0" bIns="0" rtlCol="0" anchor="ctr"/>
          <a:lstStyle/>
          <a:p>
            <a:pPr algn="ctr" indent="0" marL="0">
              <a:buNone/>
            </a:pPr>
            <a:r>
              <a:rPr lang="en-US" sz="3800" b="1" dirty="0">
                <a:solidFill>
                  <a:srgbClr val="065A82"/>
                </a:solidFill>
                <a:latin typeface="Cambria" pitchFamily="34" charset="0"/>
                <a:ea typeface="Cambria" pitchFamily="34" charset="-122"/>
                <a:cs typeface="Cambria" pitchFamily="34" charset="-120"/>
              </a:rPr>
              <a:t>23,248</a:t>
            </a:r>
            <a:endParaRPr lang="en-US" sz="3800" dirty="0"/>
          </a:p>
        </p:txBody>
      </p:sp>
      <p:sp>
        <p:nvSpPr>
          <p:cNvPr id="8" name="Text 6"/>
          <p:cNvSpPr/>
          <p:nvPr/>
        </p:nvSpPr>
        <p:spPr>
          <a:xfrm>
            <a:off x="411480" y="2743200"/>
            <a:ext cx="1874520" cy="411480"/>
          </a:xfrm>
          <a:prstGeom prst="rect">
            <a:avLst/>
          </a:prstGeom>
          <a:noFill/>
          <a:ln/>
        </p:spPr>
        <p:txBody>
          <a:bodyPr wrap="square" lIns="0" tIns="0" rIns="0" bIns="0" rtlCol="0" anchor="ctr"/>
          <a:lstStyle/>
          <a:p>
            <a:pPr algn="ctr" indent="0" marL="0">
              <a:buNone/>
            </a:pPr>
            <a:r>
              <a:rPr lang="en-US" sz="1200" dirty="0">
                <a:solidFill>
                  <a:srgbClr val="4A6B7C"/>
                </a:solidFill>
                <a:latin typeface="Calibri" pitchFamily="34" charset="0"/>
                <a:ea typeface="Calibri" pitchFamily="34" charset="-122"/>
                <a:cs typeface="Calibri" pitchFamily="34" charset="-120"/>
              </a:rPr>
              <a:t>CTPA Studies</a:t>
            </a:r>
            <a:endParaRPr lang="en-US" sz="1200" dirty="0"/>
          </a:p>
        </p:txBody>
      </p:sp>
      <p:sp>
        <p:nvSpPr>
          <p:cNvPr id="9" name="Shape 7"/>
          <p:cNvSpPr/>
          <p:nvPr/>
        </p:nvSpPr>
        <p:spPr>
          <a:xfrm>
            <a:off x="2468880" y="1920240"/>
            <a:ext cx="1874520" cy="137160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0" name="Text 8"/>
          <p:cNvSpPr/>
          <p:nvPr/>
        </p:nvSpPr>
        <p:spPr>
          <a:xfrm>
            <a:off x="2468880" y="2084832"/>
            <a:ext cx="1874520" cy="658368"/>
          </a:xfrm>
          <a:prstGeom prst="rect">
            <a:avLst/>
          </a:prstGeom>
          <a:noFill/>
          <a:ln/>
        </p:spPr>
        <p:txBody>
          <a:bodyPr wrap="square" lIns="0" tIns="0" rIns="0" bIns="0" rtlCol="0" anchor="ctr"/>
          <a:lstStyle/>
          <a:p>
            <a:pPr algn="ctr" indent="0" marL="0">
              <a:buNone/>
            </a:pPr>
            <a:r>
              <a:rPr lang="en-US" sz="3800" b="1" dirty="0">
                <a:solidFill>
                  <a:srgbClr val="065A82"/>
                </a:solidFill>
                <a:latin typeface="Cambria" pitchFamily="34" charset="0"/>
                <a:ea typeface="Cambria" pitchFamily="34" charset="-122"/>
                <a:cs typeface="Cambria" pitchFamily="34" charset="-120"/>
              </a:rPr>
              <a:t>19,402</a:t>
            </a:r>
            <a:endParaRPr lang="en-US" sz="3800" dirty="0"/>
          </a:p>
        </p:txBody>
      </p:sp>
      <p:sp>
        <p:nvSpPr>
          <p:cNvPr id="11" name="Text 9"/>
          <p:cNvSpPr/>
          <p:nvPr/>
        </p:nvSpPr>
        <p:spPr>
          <a:xfrm>
            <a:off x="2468880" y="2743200"/>
            <a:ext cx="1874520" cy="411480"/>
          </a:xfrm>
          <a:prstGeom prst="rect">
            <a:avLst/>
          </a:prstGeom>
          <a:noFill/>
          <a:ln/>
        </p:spPr>
        <p:txBody>
          <a:bodyPr wrap="square" lIns="0" tIns="0" rIns="0" bIns="0" rtlCol="0" anchor="ctr"/>
          <a:lstStyle/>
          <a:p>
            <a:pPr algn="ctr" indent="0" marL="0">
              <a:buNone/>
            </a:pPr>
            <a:r>
              <a:rPr lang="en-US" sz="1200" dirty="0">
                <a:solidFill>
                  <a:srgbClr val="4A6B7C"/>
                </a:solidFill>
                <a:latin typeface="Calibri" pitchFamily="34" charset="0"/>
                <a:ea typeface="Calibri" pitchFamily="34" charset="-122"/>
                <a:cs typeface="Calibri" pitchFamily="34" charset="-120"/>
              </a:rPr>
              <a:t>Unique Patients</a:t>
            </a:r>
            <a:endParaRPr lang="en-US" sz="1200" dirty="0"/>
          </a:p>
        </p:txBody>
      </p:sp>
      <p:sp>
        <p:nvSpPr>
          <p:cNvPr id="12" name="Shape 10"/>
          <p:cNvSpPr/>
          <p:nvPr/>
        </p:nvSpPr>
        <p:spPr>
          <a:xfrm>
            <a:off x="4526280" y="1920240"/>
            <a:ext cx="1874520" cy="137160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4526280" y="2084832"/>
            <a:ext cx="1874520" cy="658368"/>
          </a:xfrm>
          <a:prstGeom prst="rect">
            <a:avLst/>
          </a:prstGeom>
          <a:noFill/>
          <a:ln/>
        </p:spPr>
        <p:txBody>
          <a:bodyPr wrap="square" lIns="0" tIns="0" rIns="0" bIns="0" rtlCol="0" anchor="ctr"/>
          <a:lstStyle/>
          <a:p>
            <a:pPr algn="ctr" indent="0" marL="0">
              <a:buNone/>
            </a:pPr>
            <a:r>
              <a:rPr lang="en-US" sz="3800" b="1" dirty="0">
                <a:solidFill>
                  <a:srgbClr val="065A82"/>
                </a:solidFill>
                <a:latin typeface="Cambria" pitchFamily="34" charset="0"/>
                <a:ea typeface="Cambria" pitchFamily="34" charset="-122"/>
                <a:cs typeface="Cambria" pitchFamily="34" charset="-120"/>
              </a:rPr>
              <a:t>8</a:t>
            </a:r>
            <a:endParaRPr lang="en-US" sz="3800" dirty="0"/>
          </a:p>
        </p:txBody>
      </p:sp>
      <p:sp>
        <p:nvSpPr>
          <p:cNvPr id="14" name="Text 12"/>
          <p:cNvSpPr/>
          <p:nvPr/>
        </p:nvSpPr>
        <p:spPr>
          <a:xfrm>
            <a:off x="4526280" y="2743200"/>
            <a:ext cx="1874520" cy="411480"/>
          </a:xfrm>
          <a:prstGeom prst="rect">
            <a:avLst/>
          </a:prstGeom>
          <a:noFill/>
          <a:ln/>
        </p:spPr>
        <p:txBody>
          <a:bodyPr wrap="square" lIns="0" tIns="0" rIns="0" bIns="0" rtlCol="0" anchor="ctr"/>
          <a:lstStyle/>
          <a:p>
            <a:pPr algn="ctr" indent="0" marL="0">
              <a:buNone/>
            </a:pPr>
            <a:r>
              <a:rPr lang="en-US" sz="1200" dirty="0">
                <a:solidFill>
                  <a:srgbClr val="4A6B7C"/>
                </a:solidFill>
                <a:latin typeface="Calibri" pitchFamily="34" charset="0"/>
                <a:ea typeface="Calibri" pitchFamily="34" charset="-122"/>
                <a:cs typeface="Calibri" pitchFamily="34" charset="-120"/>
              </a:rPr>
              <a:t>Prediction Tasks</a:t>
            </a:r>
            <a:endParaRPr lang="en-US" sz="1200" dirty="0"/>
          </a:p>
        </p:txBody>
      </p:sp>
      <p:sp>
        <p:nvSpPr>
          <p:cNvPr id="15" name="Shape 13"/>
          <p:cNvSpPr/>
          <p:nvPr/>
        </p:nvSpPr>
        <p:spPr>
          <a:xfrm>
            <a:off x="6583680" y="1920240"/>
            <a:ext cx="1874520" cy="137160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6" name="Text 14"/>
          <p:cNvSpPr/>
          <p:nvPr/>
        </p:nvSpPr>
        <p:spPr>
          <a:xfrm>
            <a:off x="6583680" y="2084832"/>
            <a:ext cx="1874520" cy="658368"/>
          </a:xfrm>
          <a:prstGeom prst="rect">
            <a:avLst/>
          </a:prstGeom>
          <a:noFill/>
          <a:ln/>
        </p:spPr>
        <p:txBody>
          <a:bodyPr wrap="square" lIns="0" tIns="0" rIns="0" bIns="0" rtlCol="0" anchor="ctr"/>
          <a:lstStyle/>
          <a:p>
            <a:pPr algn="ctr" indent="0" marL="0">
              <a:buNone/>
            </a:pPr>
            <a:r>
              <a:rPr lang="en-US" sz="3800" b="1" dirty="0">
                <a:solidFill>
                  <a:srgbClr val="065A82"/>
                </a:solidFill>
                <a:latin typeface="Cambria" pitchFamily="34" charset="0"/>
                <a:ea typeface="Cambria" pitchFamily="34" charset="-122"/>
                <a:cs typeface="Cambria" pitchFamily="34" charset="-120"/>
              </a:rPr>
              <a:t>2</a:t>
            </a:r>
            <a:endParaRPr lang="en-US" sz="3800" dirty="0"/>
          </a:p>
        </p:txBody>
      </p:sp>
      <p:sp>
        <p:nvSpPr>
          <p:cNvPr id="17" name="Text 15"/>
          <p:cNvSpPr/>
          <p:nvPr/>
        </p:nvSpPr>
        <p:spPr>
          <a:xfrm>
            <a:off x="6583680" y="2743200"/>
            <a:ext cx="1874520" cy="411480"/>
          </a:xfrm>
          <a:prstGeom prst="rect">
            <a:avLst/>
          </a:prstGeom>
          <a:noFill/>
          <a:ln/>
        </p:spPr>
        <p:txBody>
          <a:bodyPr wrap="square" lIns="0" tIns="0" rIns="0" bIns="0" rtlCol="0" anchor="ctr"/>
          <a:lstStyle/>
          <a:p>
            <a:pPr algn="ctr" indent="0" marL="0">
              <a:buNone/>
            </a:pPr>
            <a:r>
              <a:rPr lang="en-US" sz="1200" dirty="0">
                <a:solidFill>
                  <a:srgbClr val="4A6B7C"/>
                </a:solidFill>
                <a:latin typeface="Calibri" pitchFamily="34" charset="0"/>
                <a:ea typeface="Calibri" pitchFamily="34" charset="-122"/>
                <a:cs typeface="Calibri" pitchFamily="34" charset="-120"/>
              </a:rPr>
              <a:t>Data Portals</a:t>
            </a:r>
            <a:endParaRPr lang="en-US" sz="1200" dirty="0"/>
          </a:p>
        </p:txBody>
      </p:sp>
      <p:sp>
        <p:nvSpPr>
          <p:cNvPr id="18" name="Shape 16"/>
          <p:cNvSpPr/>
          <p:nvPr/>
        </p:nvSpPr>
        <p:spPr>
          <a:xfrm>
            <a:off x="411480" y="3493008"/>
            <a:ext cx="8321040" cy="1417320"/>
          </a:xfrm>
          <a:prstGeom prst="rect">
            <a:avLst/>
          </a:prstGeom>
          <a:solidFill>
            <a:srgbClr val="EBF5FA"/>
          </a:solidFill>
          <a:ln w="6350">
            <a:solidFill>
              <a:srgbClr val="C8E3EE"/>
            </a:solidFill>
            <a:prstDash val="solid"/>
          </a:ln>
        </p:spPr>
      </p:sp>
      <p:sp>
        <p:nvSpPr>
          <p:cNvPr id="19" name="Text 17"/>
          <p:cNvSpPr/>
          <p:nvPr/>
        </p:nvSpPr>
        <p:spPr>
          <a:xfrm>
            <a:off x="594360" y="3621024"/>
            <a:ext cx="100584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8 Tasks: </a:t>
            </a:r>
            <a:endParaRPr lang="en-US" sz="1100" dirty="0"/>
          </a:p>
        </p:txBody>
      </p:sp>
      <p:sp>
        <p:nvSpPr>
          <p:cNvPr id="20" name="Text 18"/>
          <p:cNvSpPr/>
          <p:nvPr/>
        </p:nvSpPr>
        <p:spPr>
          <a:xfrm>
            <a:off x="1463040" y="3621024"/>
            <a:ext cx="7132320" cy="274320"/>
          </a:xfrm>
          <a:prstGeom prst="rect">
            <a:avLst/>
          </a:prstGeom>
          <a:noFill/>
          <a:ln/>
        </p:spPr>
        <p:txBody>
          <a:bodyPr wrap="square" lIns="0" tIns="0" rIns="0" bIns="0" rtlCol="0" anchor="ctr"/>
          <a:lstStyle/>
          <a:p>
            <a:pPr indent="0" marL="0">
              <a:buNone/>
            </a:pPr>
            <a:r>
              <a:rPr lang="en-US" sz="1100" dirty="0">
                <a:solidFill>
                  <a:srgbClr val="4A6B7C"/>
                </a:solidFill>
                <a:latin typeface="Calibri" pitchFamily="34" charset="0"/>
                <a:ea typeface="Calibri" pitchFamily="34" charset="-122"/>
                <a:cs typeface="Calibri" pitchFamily="34" charset="-120"/>
              </a:rPr>
              <a:t>PE Diagnosis  ·  1/6/12-Month Mortality  ·  1/6/12-Month Readmission  ·  12-Month Pulmonary Hypertension</a:t>
            </a:r>
            <a:endParaRPr lang="en-US" sz="1100" dirty="0"/>
          </a:p>
        </p:txBody>
      </p:sp>
      <p:sp>
        <p:nvSpPr>
          <p:cNvPr id="21" name="Text 19"/>
          <p:cNvSpPr/>
          <p:nvPr/>
        </p:nvSpPr>
        <p:spPr>
          <a:xfrm>
            <a:off x="594360" y="3977640"/>
            <a:ext cx="109728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Modalities: </a:t>
            </a:r>
            <a:endParaRPr lang="en-US" sz="1100" dirty="0"/>
          </a:p>
        </p:txBody>
      </p:sp>
      <p:sp>
        <p:nvSpPr>
          <p:cNvPr id="22" name="Text 20"/>
          <p:cNvSpPr/>
          <p:nvPr/>
        </p:nvSpPr>
        <p:spPr>
          <a:xfrm>
            <a:off x="1463040" y="3977640"/>
            <a:ext cx="7132320" cy="274320"/>
          </a:xfrm>
          <a:prstGeom prst="rect">
            <a:avLst/>
          </a:prstGeom>
          <a:noFill/>
          <a:ln/>
        </p:spPr>
        <p:txBody>
          <a:bodyPr wrap="square" lIns="0" tIns="0" rIns="0" bIns="0" rtlCol="0" anchor="ctr"/>
          <a:lstStyle/>
          <a:p>
            <a:pPr indent="0" marL="0">
              <a:buNone/>
            </a:pPr>
            <a:r>
              <a:rPr lang="en-US" sz="1100" dirty="0">
                <a:solidFill>
                  <a:srgbClr val="4A6B7C"/>
                </a:solidFill>
                <a:latin typeface="Calibri" pitchFamily="34" charset="0"/>
                <a:ea typeface="Calibri" pitchFamily="34" charset="-122"/>
                <a:cs typeface="Calibri" pitchFamily="34" charset="-120"/>
              </a:rPr>
              <a:t>CT Image (NIfTI, 23,340 volumes)  ·  Longitudinal EHR (OMOP, 32 tables)  ·  Radiology reports</a:t>
            </a:r>
            <a:endParaRPr lang="en-US" sz="1100" dirty="0"/>
          </a:p>
        </p:txBody>
      </p:sp>
      <p:sp>
        <p:nvSpPr>
          <p:cNvPr id="23" name="Text 21"/>
          <p:cNvSpPr/>
          <p:nvPr/>
        </p:nvSpPr>
        <p:spPr>
          <a:xfrm>
            <a:off x="594360" y="4334256"/>
            <a:ext cx="118872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Model types: </a:t>
            </a:r>
            <a:endParaRPr lang="en-US" sz="1100" dirty="0"/>
          </a:p>
        </p:txBody>
      </p:sp>
      <p:sp>
        <p:nvSpPr>
          <p:cNvPr id="24" name="Text 22"/>
          <p:cNvSpPr/>
          <p:nvPr/>
        </p:nvSpPr>
        <p:spPr>
          <a:xfrm>
            <a:off x="1463040" y="4334256"/>
            <a:ext cx="7132320" cy="274320"/>
          </a:xfrm>
          <a:prstGeom prst="rect">
            <a:avLst/>
          </a:prstGeom>
          <a:noFill/>
          <a:ln/>
        </p:spPr>
        <p:txBody>
          <a:bodyPr wrap="square" lIns="0" tIns="0" rIns="0" bIns="0" rtlCol="0" anchor="ctr"/>
          <a:lstStyle/>
          <a:p>
            <a:pPr indent="0" marL="0">
              <a:buNone/>
            </a:pPr>
            <a:r>
              <a:rPr lang="en-US" sz="1100" dirty="0">
                <a:solidFill>
                  <a:srgbClr val="4A6B7C"/>
                </a:solidFill>
                <a:latin typeface="Calibri" pitchFamily="34" charset="0"/>
                <a:ea typeface="Calibri" pitchFamily="34" charset="-122"/>
                <a:cs typeface="Calibri" pitchFamily="34" charset="-120"/>
              </a:rPr>
              <a:t>GBM (EHR count features)  ·  MOTOR foundation model (EHR sequence)  ·  ResNetV2+GRU (CT image)  ·  Late fusion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DATA ACQUISITION</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600" b="1" dirty="0">
                <a:solidFill>
                  <a:srgbClr val="065A82"/>
                </a:solidFill>
                <a:latin typeface="Cambria" pitchFamily="34" charset="0"/>
                <a:ea typeface="Cambria" pitchFamily="34" charset="-122"/>
                <a:cs typeface="Cambria" pitchFamily="34" charset="-120"/>
              </a:rPr>
              <a:t>The Split-Portal Problem</a:t>
            </a:r>
            <a:endParaRPr lang="en-US" sz="3600" dirty="0"/>
          </a:p>
        </p:txBody>
      </p:sp>
      <p:sp>
        <p:nvSpPr>
          <p:cNvPr id="5" name="Shape 3"/>
          <p:cNvSpPr/>
          <p:nvPr/>
        </p:nvSpPr>
        <p:spPr>
          <a:xfrm>
            <a:off x="411480" y="1280160"/>
            <a:ext cx="3749040" cy="256032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411480" y="1280160"/>
            <a:ext cx="3749040" cy="411480"/>
          </a:xfrm>
          <a:prstGeom prst="rect">
            <a:avLst/>
          </a:prstGeom>
          <a:solidFill>
            <a:srgbClr val="1C7293"/>
          </a:solidFill>
          <a:ln w="12700">
            <a:solidFill>
              <a:srgbClr val="1C7293"/>
            </a:solidFill>
            <a:prstDash val="solid"/>
          </a:ln>
        </p:spPr>
      </p:sp>
      <p:sp>
        <p:nvSpPr>
          <p:cNvPr id="7" name="Text 5"/>
          <p:cNvSpPr/>
          <p:nvPr/>
        </p:nvSpPr>
        <p:spPr>
          <a:xfrm>
            <a:off x="411480" y="1280160"/>
            <a:ext cx="3749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REDIVIS  (Shah Lab)</a:t>
            </a:r>
            <a:endParaRPr lang="en-US" sz="1300" dirty="0"/>
          </a:p>
        </p:txBody>
      </p:sp>
      <p:sp>
        <p:nvSpPr>
          <p:cNvPr id="8" name="Text 6"/>
          <p:cNvSpPr/>
          <p:nvPr/>
        </p:nvSpPr>
        <p:spPr>
          <a:xfrm>
            <a:off x="594360" y="1783080"/>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32 OMOP clinical tables (CSV)</a:t>
            </a:r>
            <a:endParaRPr lang="en-US" sz="1200" dirty="0"/>
          </a:p>
        </p:txBody>
      </p:sp>
      <p:sp>
        <p:nvSpPr>
          <p:cNvPr id="9" name="Text 7"/>
          <p:cNvSpPr/>
          <p:nvPr/>
        </p:nvSpPr>
        <p:spPr>
          <a:xfrm>
            <a:off x="594360" y="2112264"/>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Demographics, vitals, labs, meds,</a:t>
            </a:r>
            <a:endParaRPr lang="en-US" sz="1200" dirty="0"/>
          </a:p>
        </p:txBody>
      </p:sp>
      <p:sp>
        <p:nvSpPr>
          <p:cNvPr id="10" name="Text 8"/>
          <p:cNvSpPr/>
          <p:nvPr/>
        </p:nvSpPr>
        <p:spPr>
          <a:xfrm>
            <a:off x="594360" y="2441448"/>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diagnoses, procedures</a:t>
            </a:r>
            <a:endParaRPr lang="en-US" sz="1200" dirty="0"/>
          </a:p>
        </p:txBody>
      </p:sp>
      <p:sp>
        <p:nvSpPr>
          <p:cNvPr id="11" name="Text 9"/>
          <p:cNvSpPr/>
          <p:nvPr/>
        </p:nvSpPr>
        <p:spPr>
          <a:xfrm>
            <a:off x="594360" y="2770632"/>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~3.7M patient EHR records</a:t>
            </a:r>
            <a:endParaRPr lang="en-US" sz="1200" dirty="0"/>
          </a:p>
        </p:txBody>
      </p:sp>
      <p:sp>
        <p:nvSpPr>
          <p:cNvPr id="12" name="Text 10"/>
          <p:cNvSpPr/>
          <p:nvPr/>
        </p:nvSpPr>
        <p:spPr>
          <a:xfrm>
            <a:off x="594360" y="3099816"/>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Requires Redivis API token</a:t>
            </a:r>
            <a:endParaRPr lang="en-US" sz="1200" dirty="0"/>
          </a:p>
        </p:txBody>
      </p:sp>
      <p:sp>
        <p:nvSpPr>
          <p:cNvPr id="13" name="Shape 11"/>
          <p:cNvSpPr/>
          <p:nvPr/>
        </p:nvSpPr>
        <p:spPr>
          <a:xfrm>
            <a:off x="4434840" y="1280160"/>
            <a:ext cx="3749040" cy="256032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4" name="Shape 12"/>
          <p:cNvSpPr/>
          <p:nvPr/>
        </p:nvSpPr>
        <p:spPr>
          <a:xfrm>
            <a:off x="4434840" y="1280160"/>
            <a:ext cx="3749040" cy="411480"/>
          </a:xfrm>
          <a:prstGeom prst="rect">
            <a:avLst/>
          </a:prstGeom>
          <a:solidFill>
            <a:srgbClr val="02C39A"/>
          </a:solidFill>
          <a:ln w="12700">
            <a:solidFill>
              <a:srgbClr val="02C39A"/>
            </a:solidFill>
            <a:prstDash val="solid"/>
          </a:ln>
        </p:spPr>
      </p:sp>
      <p:sp>
        <p:nvSpPr>
          <p:cNvPr id="15" name="Text 13"/>
          <p:cNvSpPr/>
          <p:nvPr/>
        </p:nvSpPr>
        <p:spPr>
          <a:xfrm>
            <a:off x="4434840" y="1280160"/>
            <a:ext cx="3749040" cy="411480"/>
          </a:xfrm>
          <a:prstGeom prst="rect">
            <a:avLst/>
          </a:prstGeom>
          <a:noFill/>
          <a:ln/>
        </p:spPr>
        <p:txBody>
          <a:bodyPr wrap="square" lIns="0" tIns="0" rIns="0" bIns="0"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AIMI PORTAL  (Stanford)</a:t>
            </a:r>
            <a:endParaRPr lang="en-US" sz="1300" dirty="0"/>
          </a:p>
        </p:txBody>
      </p:sp>
      <p:sp>
        <p:nvSpPr>
          <p:cNvPr id="16" name="Text 14"/>
          <p:cNvSpPr/>
          <p:nvPr/>
        </p:nvSpPr>
        <p:spPr>
          <a:xfrm>
            <a:off x="4617720" y="1783080"/>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True NLP labels (labels_20250611.tsv)</a:t>
            </a:r>
            <a:endParaRPr lang="en-US" sz="1200" dirty="0"/>
          </a:p>
        </p:txBody>
      </p:sp>
      <p:sp>
        <p:nvSpPr>
          <p:cNvPr id="17" name="Text 15"/>
          <p:cNvSpPr/>
          <p:nvPr/>
        </p:nvSpPr>
        <p:spPr>
          <a:xfrm>
            <a:off x="4617720" y="2112264"/>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Study mapping + canonical splits</a:t>
            </a:r>
            <a:endParaRPr lang="en-US" sz="1200" dirty="0"/>
          </a:p>
        </p:txBody>
      </p:sp>
      <p:sp>
        <p:nvSpPr>
          <p:cNvPr id="18" name="Text 16"/>
          <p:cNvSpPr/>
          <p:nvPr/>
        </p:nvSpPr>
        <p:spPr>
          <a:xfrm>
            <a:off x="4617720" y="2441448"/>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23,340 CTPA volumes (NIfTI)</a:t>
            </a:r>
            <a:endParaRPr lang="en-US" sz="1200" dirty="0"/>
          </a:p>
        </p:txBody>
      </p:sp>
      <p:sp>
        <p:nvSpPr>
          <p:cNvPr id="19" name="Text 17"/>
          <p:cNvSpPr/>
          <p:nvPr/>
        </p:nvSpPr>
        <p:spPr>
          <a:xfrm>
            <a:off x="4617720" y="2770632"/>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Requires Data Use Agreement (DUA)</a:t>
            </a:r>
            <a:endParaRPr lang="en-US" sz="1200" dirty="0"/>
          </a:p>
        </p:txBody>
      </p:sp>
      <p:sp>
        <p:nvSpPr>
          <p:cNvPr id="20" name="Text 18"/>
          <p:cNvSpPr/>
          <p:nvPr/>
        </p:nvSpPr>
        <p:spPr>
          <a:xfrm>
            <a:off x="4617720" y="3099816"/>
            <a:ext cx="3383280" cy="310896"/>
          </a:xfrm>
          <a:prstGeom prst="rect">
            <a:avLst/>
          </a:prstGeom>
          <a:noFill/>
          <a:ln/>
        </p:spPr>
        <p:txBody>
          <a:bodyPr wrap="square" rtlCol="0" anchor="ctr"/>
          <a:lstStyle/>
          <a:p>
            <a:pPr marL="342900" indent="-342900">
              <a:buSzPct val="100000"/>
              <a:buChar char="•"/>
            </a:pPr>
            <a:r>
              <a:rPr lang="en-US" sz="1200" dirty="0">
                <a:solidFill>
                  <a:srgbClr val="1A2B3C"/>
                </a:solidFill>
                <a:latin typeface="Calibri" pitchFamily="34" charset="0"/>
                <a:ea typeface="Calibri" pitchFamily="34" charset="-122"/>
                <a:cs typeface="Calibri" pitchFamily="34" charset="-120"/>
              </a:rPr>
              <a:t>Not linked from main dataset page</a:t>
            </a:r>
            <a:endParaRPr lang="en-US" sz="1200" dirty="0"/>
          </a:p>
        </p:txBody>
      </p:sp>
      <p:sp>
        <p:nvSpPr>
          <p:cNvPr id="21" name="Shape 19"/>
          <p:cNvSpPr/>
          <p:nvPr/>
        </p:nvSpPr>
        <p:spPr>
          <a:xfrm>
            <a:off x="4187952" y="2468880"/>
            <a:ext cx="246888" cy="246888"/>
          </a:xfrm>
          <a:prstGeom prst="rect">
            <a:avLst/>
          </a:prstGeom>
          <a:solidFill>
            <a:srgbClr val="F59E0B"/>
          </a:solidFill>
          <a:ln w="12700">
            <a:solidFill>
              <a:srgbClr val="F59E0B"/>
            </a:solidFill>
            <a:prstDash val="solid"/>
          </a:ln>
        </p:spPr>
      </p:sp>
      <p:sp>
        <p:nvSpPr>
          <p:cNvPr id="22" name="Text 20"/>
          <p:cNvSpPr/>
          <p:nvPr/>
        </p:nvSpPr>
        <p:spPr>
          <a:xfrm>
            <a:off x="4187952" y="2468880"/>
            <a:ext cx="246888" cy="24688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Shape 21"/>
          <p:cNvSpPr/>
          <p:nvPr/>
        </p:nvSpPr>
        <p:spPr>
          <a:xfrm>
            <a:off x="411480" y="3840480"/>
            <a:ext cx="8321040" cy="804672"/>
          </a:xfrm>
          <a:prstGeom prst="rect">
            <a:avLst/>
          </a:prstGeom>
          <a:solidFill>
            <a:srgbClr val="FEF3C7"/>
          </a:solidFill>
          <a:ln w="12700">
            <a:solidFill>
              <a:srgbClr val="F59E0B"/>
            </a:solidFill>
            <a:prstDash val="solid"/>
          </a:ln>
        </p:spPr>
      </p:sp>
      <p:sp>
        <p:nvSpPr>
          <p:cNvPr id="24" name="Text 22"/>
          <p:cNvSpPr/>
          <p:nvPr/>
        </p:nvSpPr>
        <p:spPr>
          <a:xfrm>
            <a:off x="594360" y="3886200"/>
            <a:ext cx="7955280" cy="713232"/>
          </a:xfrm>
          <a:prstGeom prst="rect">
            <a:avLst/>
          </a:prstGeom>
          <a:noFill/>
          <a:ln/>
        </p:spPr>
        <p:txBody>
          <a:bodyPr wrap="square" rtlCol="0" anchor="ctr"/>
          <a:lstStyle/>
          <a:p>
            <a:pPr indent="0" marL="0">
              <a:buNone/>
            </a:pPr>
            <a:r>
              <a:rPr lang="en-US" sz="1150" dirty="0">
                <a:solidFill>
                  <a:srgbClr val="92400E"/>
                </a:solidFill>
                <a:latin typeface="Calibri" pitchFamily="34" charset="0"/>
                <a:ea typeface="Calibri" pitchFamily="34" charset="-122"/>
                <a:cs typeface="Calibri" pitchFamily="34" charset="-120"/>
              </a:rPr>
              <a:t>⚠  The AIMI portal link is absent from the main INSPECT README. Resolving this required direct contact with the dataset authors. The June 2025 tte-pretraining repo finally documents both portals explicitly.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EHR PIPELINE</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From Raw CSVs to Master Cohort File</a:t>
            </a:r>
            <a:endParaRPr lang="en-US" sz="3400" dirty="0"/>
          </a:p>
        </p:txBody>
      </p:sp>
      <p:sp>
        <p:nvSpPr>
          <p:cNvPr id="5" name="Shape 3"/>
          <p:cNvSpPr/>
          <p:nvPr/>
        </p:nvSpPr>
        <p:spPr>
          <a:xfrm>
            <a:off x="411480" y="1371600"/>
            <a:ext cx="1691640" cy="123444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411480" y="1371600"/>
            <a:ext cx="1691640" cy="292608"/>
          </a:xfrm>
          <a:prstGeom prst="rect">
            <a:avLst/>
          </a:prstGeom>
          <a:solidFill>
            <a:srgbClr val="1C7293"/>
          </a:solidFill>
          <a:ln w="12700">
            <a:solidFill>
              <a:srgbClr val="1C7293"/>
            </a:solidFill>
            <a:prstDash val="solid"/>
          </a:ln>
        </p:spPr>
      </p:sp>
      <p:sp>
        <p:nvSpPr>
          <p:cNvPr id="7" name="Text 5"/>
          <p:cNvSpPr/>
          <p:nvPr/>
        </p:nvSpPr>
        <p:spPr>
          <a:xfrm>
            <a:off x="411480" y="1371600"/>
            <a:ext cx="1691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484632" y="1700784"/>
            <a:ext cx="1545336" cy="384048"/>
          </a:xfrm>
          <a:prstGeom prst="rect">
            <a:avLst/>
          </a:prstGeom>
          <a:noFill/>
          <a:ln/>
        </p:spPr>
        <p:txBody>
          <a:bodyPr wrap="square" rtlCol="0" anchor="ctr"/>
          <a:lstStyle/>
          <a:p>
            <a:pPr algn="ctr" indent="0" marL="0">
              <a:buNone/>
            </a:pPr>
            <a:r>
              <a:rPr lang="en-US" sz="1300" b="1" dirty="0">
                <a:solidFill>
                  <a:srgbClr val="1A2B3C"/>
                </a:solidFill>
                <a:latin typeface="Cambria" pitchFamily="34" charset="0"/>
                <a:ea typeface="Cambria" pitchFamily="34" charset="-122"/>
                <a:cs typeface="Cambria" pitchFamily="34" charset="-120"/>
              </a:rPr>
              <a:t>32 OMOP CSVs</a:t>
            </a:r>
            <a:endParaRPr lang="en-US" sz="1300" dirty="0"/>
          </a:p>
        </p:txBody>
      </p:sp>
      <p:sp>
        <p:nvSpPr>
          <p:cNvPr id="9" name="Text 7"/>
          <p:cNvSpPr/>
          <p:nvPr/>
        </p:nvSpPr>
        <p:spPr>
          <a:xfrm>
            <a:off x="484632" y="2075688"/>
            <a:ext cx="1545336" cy="502920"/>
          </a:xfrm>
          <a:prstGeom prst="rect">
            <a:avLst/>
          </a:prstGeom>
          <a:noFill/>
          <a:ln/>
        </p:spPr>
        <p:txBody>
          <a:bodyPr wrap="square" rtlCol="0" anchor="ctr"/>
          <a:lstStyle/>
          <a:p>
            <a:pPr algn="ctr" indent="0" marL="0">
              <a:buNone/>
            </a:pPr>
            <a:r>
              <a:rPr lang="en-US" sz="1000" dirty="0">
                <a:solidFill>
                  <a:srgbClr val="4A6B7C"/>
                </a:solidFill>
                <a:latin typeface="Calibri" pitchFamily="34" charset="0"/>
                <a:ea typeface="Calibri" pitchFamily="34" charset="-122"/>
                <a:cs typeface="Calibri" pitchFamily="34" charset="-120"/>
              </a:rPr>
              <a:t>Downloaded via</a:t>
            </a:r>
            <a:endParaRPr lang="en-US" sz="1000" dirty="0"/>
          </a:p>
          <a:p>
            <a:pPr algn="ctr" indent="0" marL="0">
              <a:buNone/>
            </a:pPr>
            <a:r>
              <a:rPr lang="en-US" sz="1000" dirty="0">
                <a:solidFill>
                  <a:srgbClr val="4A6B7C"/>
                </a:solidFill>
                <a:latin typeface="Calibri" pitchFamily="34" charset="0"/>
                <a:ea typeface="Calibri" pitchFamily="34" charset="-122"/>
                <a:cs typeface="Calibri" pitchFamily="34" charset="-120"/>
              </a:rPr>
              <a:t>Redivis API</a:t>
            </a:r>
            <a:endParaRPr lang="en-US" sz="1000" dirty="0"/>
          </a:p>
        </p:txBody>
      </p:sp>
      <p:sp>
        <p:nvSpPr>
          <p:cNvPr id="10" name="Shape 8"/>
          <p:cNvSpPr/>
          <p:nvPr/>
        </p:nvSpPr>
        <p:spPr>
          <a:xfrm>
            <a:off x="2157984" y="1988820"/>
            <a:ext cx="393192" cy="0"/>
          </a:xfrm>
          <a:prstGeom prst="line">
            <a:avLst/>
          </a:prstGeom>
          <a:noFill/>
          <a:ln w="25400">
            <a:solidFill>
              <a:srgbClr val="1C7293"/>
            </a:solidFill>
            <a:prstDash val="solid"/>
          </a:ln>
        </p:spPr>
      </p:sp>
      <p:sp>
        <p:nvSpPr>
          <p:cNvPr id="11" name="Text 9"/>
          <p:cNvSpPr/>
          <p:nvPr/>
        </p:nvSpPr>
        <p:spPr>
          <a:xfrm>
            <a:off x="2350008" y="1833372"/>
            <a:ext cx="256032" cy="256032"/>
          </a:xfrm>
          <a:prstGeom prst="rect">
            <a:avLst/>
          </a:prstGeom>
          <a:noFill/>
          <a:ln/>
        </p:spPr>
        <p:txBody>
          <a:bodyPr wrap="square" lIns="0" tIns="0" rIns="0" bIns="0" rtlCol="0" anchor="ctr"/>
          <a:lstStyle/>
          <a:p>
            <a:pPr algn="ctr" indent="0" marL="0">
              <a:buNone/>
            </a:pPr>
            <a:r>
              <a:rPr lang="en-US" sz="1100" dirty="0">
                <a:solidFill>
                  <a:srgbClr val="1C7293"/>
                </a:solidFill>
              </a:rPr>
              <a:t>▶</a:t>
            </a:r>
            <a:endParaRPr lang="en-US" sz="1100" dirty="0"/>
          </a:p>
        </p:txBody>
      </p:sp>
      <p:sp>
        <p:nvSpPr>
          <p:cNvPr id="12" name="Shape 10"/>
          <p:cNvSpPr/>
          <p:nvPr/>
        </p:nvSpPr>
        <p:spPr>
          <a:xfrm>
            <a:off x="2606040" y="1371600"/>
            <a:ext cx="1691640" cy="123444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3" name="Shape 11"/>
          <p:cNvSpPr/>
          <p:nvPr/>
        </p:nvSpPr>
        <p:spPr>
          <a:xfrm>
            <a:off x="2606040" y="1371600"/>
            <a:ext cx="1691640" cy="292608"/>
          </a:xfrm>
          <a:prstGeom prst="rect">
            <a:avLst/>
          </a:prstGeom>
          <a:solidFill>
            <a:srgbClr val="065A82"/>
          </a:solidFill>
          <a:ln w="12700">
            <a:solidFill>
              <a:srgbClr val="065A82"/>
            </a:solidFill>
            <a:prstDash val="solid"/>
          </a:ln>
        </p:spPr>
      </p:sp>
      <p:sp>
        <p:nvSpPr>
          <p:cNvPr id="14" name="Text 12"/>
          <p:cNvSpPr/>
          <p:nvPr/>
        </p:nvSpPr>
        <p:spPr>
          <a:xfrm>
            <a:off x="2606040" y="1371600"/>
            <a:ext cx="1691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2679192" y="1700784"/>
            <a:ext cx="1545336" cy="384048"/>
          </a:xfrm>
          <a:prstGeom prst="rect">
            <a:avLst/>
          </a:prstGeom>
          <a:noFill/>
          <a:ln/>
        </p:spPr>
        <p:txBody>
          <a:bodyPr wrap="square" rtlCol="0" anchor="ctr"/>
          <a:lstStyle/>
          <a:p>
            <a:pPr algn="ctr" indent="0" marL="0">
              <a:buNone/>
            </a:pPr>
            <a:r>
              <a:rPr lang="en-US" sz="1300" b="1" dirty="0">
                <a:solidFill>
                  <a:srgbClr val="1A2B3C"/>
                </a:solidFill>
                <a:latin typeface="Cambria" pitchFamily="34" charset="0"/>
                <a:ea typeface="Cambria" pitchFamily="34" charset="-122"/>
                <a:cs typeface="Cambria" pitchFamily="34" charset="-120"/>
              </a:rPr>
              <a:t>FEMR DB</a:t>
            </a:r>
            <a:endParaRPr lang="en-US" sz="1300" dirty="0"/>
          </a:p>
        </p:txBody>
      </p:sp>
      <p:sp>
        <p:nvSpPr>
          <p:cNvPr id="16" name="Text 14"/>
          <p:cNvSpPr/>
          <p:nvPr/>
        </p:nvSpPr>
        <p:spPr>
          <a:xfrm>
            <a:off x="2679192" y="2075688"/>
            <a:ext cx="1545336" cy="502920"/>
          </a:xfrm>
          <a:prstGeom prst="rect">
            <a:avLst/>
          </a:prstGeom>
          <a:noFill/>
          <a:ln/>
        </p:spPr>
        <p:txBody>
          <a:bodyPr wrap="square" rtlCol="0" anchor="ctr"/>
          <a:lstStyle/>
          <a:p>
            <a:pPr algn="ctr" indent="0" marL="0">
              <a:buNone/>
            </a:pPr>
            <a:r>
              <a:rPr lang="en-US" sz="1000" dirty="0">
                <a:solidFill>
                  <a:srgbClr val="4A6B7C"/>
                </a:solidFill>
                <a:latin typeface="Calibri" pitchFamily="34" charset="0"/>
                <a:ea typeface="Calibri" pitchFamily="34" charset="-122"/>
                <a:cs typeface="Calibri" pitchFamily="34" charset="-120"/>
              </a:rPr>
              <a:t>Longitudinal patient</a:t>
            </a:r>
            <a:endParaRPr lang="en-US" sz="1000" dirty="0"/>
          </a:p>
          <a:p>
            <a:pPr algn="ctr" indent="0" marL="0">
              <a:buNone/>
            </a:pPr>
            <a:r>
              <a:rPr lang="en-US" sz="1000" dirty="0">
                <a:solidFill>
                  <a:srgbClr val="4A6B7C"/>
                </a:solidFill>
                <a:latin typeface="Calibri" pitchFamily="34" charset="0"/>
                <a:ea typeface="Calibri" pitchFamily="34" charset="-122"/>
                <a:cs typeface="Calibri" pitchFamily="34" charset="-120"/>
              </a:rPr>
              <a:t>timelines (femr ETL)</a:t>
            </a:r>
            <a:endParaRPr lang="en-US" sz="1000" dirty="0"/>
          </a:p>
        </p:txBody>
      </p:sp>
      <p:sp>
        <p:nvSpPr>
          <p:cNvPr id="17" name="Shape 15"/>
          <p:cNvSpPr/>
          <p:nvPr/>
        </p:nvSpPr>
        <p:spPr>
          <a:xfrm>
            <a:off x="4352544" y="1988820"/>
            <a:ext cx="393192" cy="0"/>
          </a:xfrm>
          <a:prstGeom prst="line">
            <a:avLst/>
          </a:prstGeom>
          <a:noFill/>
          <a:ln w="25400">
            <a:solidFill>
              <a:srgbClr val="1C7293"/>
            </a:solidFill>
            <a:prstDash val="solid"/>
          </a:ln>
        </p:spPr>
      </p:sp>
      <p:sp>
        <p:nvSpPr>
          <p:cNvPr id="18" name="Text 16"/>
          <p:cNvSpPr/>
          <p:nvPr/>
        </p:nvSpPr>
        <p:spPr>
          <a:xfrm>
            <a:off x="4544568" y="1833372"/>
            <a:ext cx="256032" cy="256032"/>
          </a:xfrm>
          <a:prstGeom prst="rect">
            <a:avLst/>
          </a:prstGeom>
          <a:noFill/>
          <a:ln/>
        </p:spPr>
        <p:txBody>
          <a:bodyPr wrap="square" lIns="0" tIns="0" rIns="0" bIns="0" rtlCol="0" anchor="ctr"/>
          <a:lstStyle/>
          <a:p>
            <a:pPr algn="ctr" indent="0" marL="0">
              <a:buNone/>
            </a:pPr>
            <a:r>
              <a:rPr lang="en-US" sz="1100" dirty="0">
                <a:solidFill>
                  <a:srgbClr val="1C7293"/>
                </a:solidFill>
              </a:rPr>
              <a:t>▶</a:t>
            </a:r>
            <a:endParaRPr lang="en-US" sz="1100" dirty="0"/>
          </a:p>
        </p:txBody>
      </p:sp>
      <p:sp>
        <p:nvSpPr>
          <p:cNvPr id="19" name="Shape 17"/>
          <p:cNvSpPr/>
          <p:nvPr/>
        </p:nvSpPr>
        <p:spPr>
          <a:xfrm>
            <a:off x="4800600" y="1371600"/>
            <a:ext cx="1691640" cy="123444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0" name="Shape 18"/>
          <p:cNvSpPr/>
          <p:nvPr/>
        </p:nvSpPr>
        <p:spPr>
          <a:xfrm>
            <a:off x="4800600" y="1371600"/>
            <a:ext cx="1691640" cy="292608"/>
          </a:xfrm>
          <a:prstGeom prst="rect">
            <a:avLst/>
          </a:prstGeom>
          <a:solidFill>
            <a:srgbClr val="047857"/>
          </a:solidFill>
          <a:ln w="12700">
            <a:solidFill>
              <a:srgbClr val="047857"/>
            </a:solidFill>
            <a:prstDash val="solid"/>
          </a:ln>
        </p:spPr>
      </p:sp>
      <p:sp>
        <p:nvSpPr>
          <p:cNvPr id="21" name="Text 19"/>
          <p:cNvSpPr/>
          <p:nvPr/>
        </p:nvSpPr>
        <p:spPr>
          <a:xfrm>
            <a:off x="4800600" y="1371600"/>
            <a:ext cx="1691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4873752" y="1700784"/>
            <a:ext cx="1545336" cy="384048"/>
          </a:xfrm>
          <a:prstGeom prst="rect">
            <a:avLst/>
          </a:prstGeom>
          <a:noFill/>
          <a:ln/>
        </p:spPr>
        <p:txBody>
          <a:bodyPr wrap="square" rtlCol="0" anchor="ctr"/>
          <a:lstStyle/>
          <a:p>
            <a:pPr algn="ctr" indent="0" marL="0">
              <a:buNone/>
            </a:pPr>
            <a:r>
              <a:rPr lang="en-US" sz="1300" b="1" dirty="0">
                <a:solidFill>
                  <a:srgbClr val="1A2B3C"/>
                </a:solidFill>
                <a:latin typeface="Cambria" pitchFamily="34" charset="0"/>
                <a:ea typeface="Cambria" pitchFamily="34" charset="-122"/>
                <a:cs typeface="Cambria" pitchFamily="34" charset="-120"/>
              </a:rPr>
              <a:t>Label Merge</a:t>
            </a:r>
            <a:endParaRPr lang="en-US" sz="1300" dirty="0"/>
          </a:p>
        </p:txBody>
      </p:sp>
      <p:sp>
        <p:nvSpPr>
          <p:cNvPr id="23" name="Text 21"/>
          <p:cNvSpPr/>
          <p:nvPr/>
        </p:nvSpPr>
        <p:spPr>
          <a:xfrm>
            <a:off x="4873752" y="2075688"/>
            <a:ext cx="1545336" cy="502920"/>
          </a:xfrm>
          <a:prstGeom prst="rect">
            <a:avLst/>
          </a:prstGeom>
          <a:noFill/>
          <a:ln/>
        </p:spPr>
        <p:txBody>
          <a:bodyPr wrap="square" rtlCol="0" anchor="ctr"/>
          <a:lstStyle/>
          <a:p>
            <a:pPr algn="ctr" indent="0" marL="0">
              <a:buNone/>
            </a:pPr>
            <a:r>
              <a:rPr lang="en-US" sz="1000" dirty="0">
                <a:solidFill>
                  <a:srgbClr val="4A6B7C"/>
                </a:solidFill>
                <a:latin typeface="Calibri" pitchFamily="34" charset="0"/>
                <a:ea typeface="Calibri" pitchFamily="34" charset="-122"/>
                <a:cs typeface="Calibri" pitchFamily="34" charset="-120"/>
              </a:rPr>
              <a:t>merge_labels.py</a:t>
            </a:r>
            <a:endParaRPr lang="en-US" sz="1000" dirty="0"/>
          </a:p>
          <a:p>
            <a:pPr algn="ctr" indent="0" marL="0">
              <a:buNone/>
            </a:pPr>
            <a:r>
              <a:rPr lang="en-US" sz="1000" dirty="0">
                <a:solidFill>
                  <a:srgbClr val="4A6B7C"/>
                </a:solidFill>
                <a:latin typeface="Calibri" pitchFamily="34" charset="0"/>
                <a:ea typeface="Calibri" pitchFamily="34" charset="-122"/>
                <a:cs typeface="Calibri" pitchFamily="34" charset="-120"/>
              </a:rPr>
              <a:t>+ AIMI labels/splits</a:t>
            </a:r>
            <a:endParaRPr lang="en-US" sz="1000" dirty="0"/>
          </a:p>
        </p:txBody>
      </p:sp>
      <p:sp>
        <p:nvSpPr>
          <p:cNvPr id="24" name="Shape 22"/>
          <p:cNvSpPr/>
          <p:nvPr/>
        </p:nvSpPr>
        <p:spPr>
          <a:xfrm>
            <a:off x="6547104" y="1988820"/>
            <a:ext cx="393192" cy="0"/>
          </a:xfrm>
          <a:prstGeom prst="line">
            <a:avLst/>
          </a:prstGeom>
          <a:noFill/>
          <a:ln w="25400">
            <a:solidFill>
              <a:srgbClr val="1C7293"/>
            </a:solidFill>
            <a:prstDash val="solid"/>
          </a:ln>
        </p:spPr>
      </p:sp>
      <p:sp>
        <p:nvSpPr>
          <p:cNvPr id="25" name="Text 23"/>
          <p:cNvSpPr/>
          <p:nvPr/>
        </p:nvSpPr>
        <p:spPr>
          <a:xfrm>
            <a:off x="6739128" y="1833372"/>
            <a:ext cx="256032" cy="256032"/>
          </a:xfrm>
          <a:prstGeom prst="rect">
            <a:avLst/>
          </a:prstGeom>
          <a:noFill/>
          <a:ln/>
        </p:spPr>
        <p:txBody>
          <a:bodyPr wrap="square" lIns="0" tIns="0" rIns="0" bIns="0" rtlCol="0" anchor="ctr"/>
          <a:lstStyle/>
          <a:p>
            <a:pPr algn="ctr" indent="0" marL="0">
              <a:buNone/>
            </a:pPr>
            <a:r>
              <a:rPr lang="en-US" sz="1100" dirty="0">
                <a:solidFill>
                  <a:srgbClr val="1C7293"/>
                </a:solidFill>
              </a:rPr>
              <a:t>▶</a:t>
            </a:r>
            <a:endParaRPr lang="en-US" sz="1100" dirty="0"/>
          </a:p>
        </p:txBody>
      </p:sp>
      <p:sp>
        <p:nvSpPr>
          <p:cNvPr id="26" name="Shape 24"/>
          <p:cNvSpPr/>
          <p:nvPr/>
        </p:nvSpPr>
        <p:spPr>
          <a:xfrm>
            <a:off x="6995160" y="1371600"/>
            <a:ext cx="1691640" cy="123444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7" name="Shape 25"/>
          <p:cNvSpPr/>
          <p:nvPr/>
        </p:nvSpPr>
        <p:spPr>
          <a:xfrm>
            <a:off x="6995160" y="1371600"/>
            <a:ext cx="1691640" cy="292608"/>
          </a:xfrm>
          <a:prstGeom prst="rect">
            <a:avLst/>
          </a:prstGeom>
          <a:solidFill>
            <a:srgbClr val="02C39A"/>
          </a:solidFill>
          <a:ln w="12700">
            <a:solidFill>
              <a:srgbClr val="02C39A"/>
            </a:solidFill>
            <a:prstDash val="solid"/>
          </a:ln>
        </p:spPr>
      </p:sp>
      <p:sp>
        <p:nvSpPr>
          <p:cNvPr id="28" name="Text 26"/>
          <p:cNvSpPr/>
          <p:nvPr/>
        </p:nvSpPr>
        <p:spPr>
          <a:xfrm>
            <a:off x="6995160" y="1371600"/>
            <a:ext cx="1691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7068312" y="1700784"/>
            <a:ext cx="1545336" cy="384048"/>
          </a:xfrm>
          <a:prstGeom prst="rect">
            <a:avLst/>
          </a:prstGeom>
          <a:noFill/>
          <a:ln/>
        </p:spPr>
        <p:txBody>
          <a:bodyPr wrap="square" rtlCol="0" anchor="ctr"/>
          <a:lstStyle/>
          <a:p>
            <a:pPr algn="ctr" indent="0" marL="0">
              <a:buNone/>
            </a:pPr>
            <a:r>
              <a:rPr lang="en-US" sz="1300" b="1" dirty="0">
                <a:solidFill>
                  <a:srgbClr val="1A2B3C"/>
                </a:solidFill>
                <a:latin typeface="Cambria" pitchFamily="34" charset="0"/>
                <a:ea typeface="Cambria" pitchFamily="34" charset="-122"/>
                <a:cs typeface="Cambria" pitchFamily="34" charset="-120"/>
              </a:rPr>
              <a:t>Master File</a:t>
            </a:r>
            <a:endParaRPr lang="en-US" sz="1300" dirty="0"/>
          </a:p>
        </p:txBody>
      </p:sp>
      <p:sp>
        <p:nvSpPr>
          <p:cNvPr id="30" name="Text 28"/>
          <p:cNvSpPr/>
          <p:nvPr/>
        </p:nvSpPr>
        <p:spPr>
          <a:xfrm>
            <a:off x="7068312" y="2075688"/>
            <a:ext cx="1545336" cy="502920"/>
          </a:xfrm>
          <a:prstGeom prst="rect">
            <a:avLst/>
          </a:prstGeom>
          <a:noFill/>
          <a:ln/>
        </p:spPr>
        <p:txBody>
          <a:bodyPr wrap="square" rtlCol="0" anchor="ctr"/>
          <a:lstStyle/>
          <a:p>
            <a:pPr algn="ctr" indent="0" marL="0">
              <a:buNone/>
            </a:pPr>
            <a:r>
              <a:rPr lang="en-US" sz="1000" dirty="0">
                <a:solidFill>
                  <a:srgbClr val="4A6B7C"/>
                </a:solidFill>
                <a:latin typeface="Calibri" pitchFamily="34" charset="0"/>
                <a:ea typeface="Calibri" pitchFamily="34" charset="-122"/>
                <a:cs typeface="Calibri" pitchFamily="34" charset="-120"/>
              </a:rPr>
              <a:t>cohort_0.2.0</a:t>
            </a:r>
            <a:endParaRPr lang="en-US" sz="1000" dirty="0"/>
          </a:p>
          <a:p>
            <a:pPr algn="ctr" indent="0" marL="0">
              <a:buNone/>
            </a:pPr>
            <a:r>
              <a:rPr lang="en-US" sz="1000" dirty="0">
                <a:solidFill>
                  <a:srgbClr val="4A6B7C"/>
                </a:solidFill>
                <a:latin typeface="Calibri" pitchFamily="34" charset="0"/>
                <a:ea typeface="Calibri" pitchFamily="34" charset="-122"/>
                <a:cs typeface="Calibri" pitchFamily="34" charset="-120"/>
              </a:rPr>
              <a:t>master_file_anon.csv</a:t>
            </a:r>
            <a:endParaRPr lang="en-US" sz="1000" dirty="0"/>
          </a:p>
        </p:txBody>
      </p:sp>
      <p:sp>
        <p:nvSpPr>
          <p:cNvPr id="31" name="Text 29"/>
          <p:cNvSpPr/>
          <p:nvPr/>
        </p:nvSpPr>
        <p:spPr>
          <a:xfrm>
            <a:off x="457200" y="2816352"/>
            <a:ext cx="8229600" cy="594360"/>
          </a:xfrm>
          <a:prstGeom prst="rect">
            <a:avLst/>
          </a:prstGeom>
          <a:noFill/>
          <a:ln/>
        </p:spPr>
        <p:txBody>
          <a:bodyPr wrap="square" rtlCol="0" anchor="ctr"/>
          <a:lstStyle/>
          <a:p>
            <a:pPr indent="0" marL="0">
              <a:buNone/>
            </a:pPr>
            <a:r>
              <a:rPr lang="en-US" sz="1150" dirty="0">
                <a:solidFill>
                  <a:srgbClr val="1A2B3C"/>
                </a:solidFill>
                <a:latin typeface="Calibri" pitchFamily="34" charset="0"/>
                <a:ea typeface="Calibri" pitchFamily="34" charset="-122"/>
                <a:cs typeface="Calibri" pitchFamily="34" charset="-120"/>
              </a:rPr>
              <a:t>▸  Step 1 — 1_INSPECT_DL_EHR.py: streams all 32 tables from Redivis as CSV (no parquet — legacy pipeline requires flat files)</a:t>
            </a:r>
            <a:endParaRPr lang="en-US" sz="1150" dirty="0"/>
          </a:p>
        </p:txBody>
      </p:sp>
      <p:sp>
        <p:nvSpPr>
          <p:cNvPr id="32" name="Text 30"/>
          <p:cNvSpPr/>
          <p:nvPr/>
        </p:nvSpPr>
        <p:spPr>
          <a:xfrm>
            <a:off x="457200" y="3474720"/>
            <a:ext cx="8229600" cy="594360"/>
          </a:xfrm>
          <a:prstGeom prst="rect">
            <a:avLst/>
          </a:prstGeom>
          <a:noFill/>
          <a:ln/>
        </p:spPr>
        <p:txBody>
          <a:bodyPr wrap="square" rtlCol="0" anchor="ctr"/>
          <a:lstStyle/>
          <a:p>
            <a:pPr indent="0" marL="0">
              <a:buNone/>
            </a:pPr>
            <a:r>
              <a:rPr lang="en-US" sz="1150" dirty="0">
                <a:solidFill>
                  <a:srgbClr val="1A2B3C"/>
                </a:solidFill>
                <a:latin typeface="Calibri" pitchFamily="34" charset="0"/>
                <a:ea typeface="Calibri" pitchFamily="34" charset="-122"/>
                <a:cs typeface="Calibri" pitchFamily="34" charset="-120"/>
              </a:rPr>
              <a:t>▸  Step 2 — ehr/1_csv_to_database.py: FEMR OMOP ETL compiles patient timelines into optimized longitudinal DB</a:t>
            </a:r>
            <a:endParaRPr lang="en-US" sz="1150" dirty="0"/>
          </a:p>
        </p:txBody>
      </p:sp>
      <p:sp>
        <p:nvSpPr>
          <p:cNvPr id="33" name="Text 31"/>
          <p:cNvSpPr/>
          <p:nvPr/>
        </p:nvSpPr>
        <p:spPr>
          <a:xfrm>
            <a:off x="457200" y="4133088"/>
            <a:ext cx="8229600" cy="594360"/>
          </a:xfrm>
          <a:prstGeom prst="rect">
            <a:avLst/>
          </a:prstGeom>
          <a:noFill/>
          <a:ln/>
        </p:spPr>
        <p:txBody>
          <a:bodyPr wrap="square" rtlCol="0" anchor="ctr"/>
          <a:lstStyle/>
          <a:p>
            <a:pPr indent="0" marL="0">
              <a:buNone/>
            </a:pPr>
            <a:r>
              <a:rPr lang="en-US" sz="1150" dirty="0">
                <a:solidFill>
                  <a:srgbClr val="1A2B3C"/>
                </a:solidFill>
                <a:latin typeface="Calibri" pitchFamily="34" charset="0"/>
                <a:ea typeface="Calibri" pitchFamily="34" charset="-122"/>
                <a:cs typeface="Calibri" pitchFamily="34" charset="-120"/>
              </a:rPr>
              <a:t>▸  Step 3 — 2_merge_labels.py (custom): inner-joins AIMI labels + splits onto study mapping, builds StudyTime, drops 779 PHI-scrubbed records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VALIDATION</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600" b="1" dirty="0">
                <a:solidFill>
                  <a:srgbClr val="065A82"/>
                </a:solidFill>
                <a:latin typeface="Cambria" pitchFamily="34" charset="0"/>
                <a:ea typeface="Cambria" pitchFamily="34" charset="-122"/>
                <a:cs typeface="Cambria" pitchFamily="34" charset="-120"/>
              </a:rPr>
              <a:t>Cohort Faithfulness Check</a:t>
            </a:r>
            <a:endParaRPr lang="en-US" sz="3600" dirty="0"/>
          </a:p>
        </p:txBody>
      </p:sp>
      <p:sp>
        <p:nvSpPr>
          <p:cNvPr id="5" name="Shape 3"/>
          <p:cNvSpPr/>
          <p:nvPr/>
        </p:nvSpPr>
        <p:spPr>
          <a:xfrm>
            <a:off x="411480" y="1234440"/>
            <a:ext cx="2743200" cy="228600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411480" y="1371600"/>
            <a:ext cx="2743200" cy="1005840"/>
          </a:xfrm>
          <a:prstGeom prst="rect">
            <a:avLst/>
          </a:prstGeom>
          <a:noFill/>
          <a:ln/>
        </p:spPr>
        <p:txBody>
          <a:bodyPr wrap="square" lIns="0" tIns="0" rIns="0" bIns="0" rtlCol="0" anchor="ctr"/>
          <a:lstStyle/>
          <a:p>
            <a:pPr algn="ctr" indent="0" marL="0">
              <a:buNone/>
            </a:pPr>
            <a:r>
              <a:rPr lang="en-US" sz="5400" b="1" dirty="0">
                <a:solidFill>
                  <a:srgbClr val="065A82"/>
                </a:solidFill>
                <a:latin typeface="Cambria" pitchFamily="34" charset="0"/>
                <a:ea typeface="Cambria" pitchFamily="34" charset="-122"/>
                <a:cs typeface="Cambria" pitchFamily="34" charset="-120"/>
              </a:rPr>
              <a:t>22,457</a:t>
            </a:r>
            <a:endParaRPr lang="en-US" sz="5400" dirty="0"/>
          </a:p>
        </p:txBody>
      </p:sp>
      <p:sp>
        <p:nvSpPr>
          <p:cNvPr id="7" name="Text 5"/>
          <p:cNvSpPr/>
          <p:nvPr/>
        </p:nvSpPr>
        <p:spPr>
          <a:xfrm>
            <a:off x="411480" y="2377440"/>
            <a:ext cx="2743200" cy="320040"/>
          </a:xfrm>
          <a:prstGeom prst="rect">
            <a:avLst/>
          </a:prstGeom>
          <a:noFill/>
          <a:ln/>
        </p:spPr>
        <p:txBody>
          <a:bodyPr wrap="square" lIns="0" tIns="0" rIns="0" bIns="0" rtlCol="0" anchor="ctr"/>
          <a:lstStyle/>
          <a:p>
            <a:pPr algn="ctr" indent="0" marL="0">
              <a:buNone/>
            </a:pPr>
            <a:r>
              <a:rPr lang="en-US" sz="1300" dirty="0">
                <a:solidFill>
                  <a:srgbClr val="4A6B7C"/>
                </a:solidFill>
                <a:latin typeface="Calibri" pitchFamily="34" charset="0"/>
                <a:ea typeface="Calibri" pitchFamily="34" charset="-122"/>
                <a:cs typeface="Calibri" pitchFamily="34" charset="-120"/>
              </a:rPr>
              <a:t>of 23,248 records</a:t>
            </a:r>
            <a:endParaRPr lang="en-US" sz="1300" dirty="0"/>
          </a:p>
        </p:txBody>
      </p:sp>
      <p:sp>
        <p:nvSpPr>
          <p:cNvPr id="8" name="Text 6"/>
          <p:cNvSpPr/>
          <p:nvPr/>
        </p:nvSpPr>
        <p:spPr>
          <a:xfrm>
            <a:off x="411480" y="2697480"/>
            <a:ext cx="2743200" cy="32004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96.6% coverage</a:t>
            </a:r>
            <a:endParaRPr lang="en-US" sz="1300" dirty="0"/>
          </a:p>
        </p:txBody>
      </p:sp>
      <p:sp>
        <p:nvSpPr>
          <p:cNvPr id="9" name="Shape 7"/>
          <p:cNvSpPr/>
          <p:nvPr/>
        </p:nvSpPr>
        <p:spPr>
          <a:xfrm>
            <a:off x="3429000" y="1234440"/>
            <a:ext cx="5212080" cy="530352"/>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0" name="Shape 8"/>
          <p:cNvSpPr/>
          <p:nvPr/>
        </p:nvSpPr>
        <p:spPr>
          <a:xfrm>
            <a:off x="3566160" y="1362456"/>
            <a:ext cx="274320" cy="274320"/>
          </a:xfrm>
          <a:prstGeom prst="oval">
            <a:avLst/>
          </a:prstGeom>
          <a:solidFill>
            <a:srgbClr val="059669"/>
          </a:solidFill>
          <a:ln w="12700">
            <a:solidFill>
              <a:srgbClr val="059669"/>
            </a:solidFill>
            <a:prstDash val="solid"/>
          </a:ln>
        </p:spPr>
      </p:sp>
      <p:sp>
        <p:nvSpPr>
          <p:cNvPr id="11" name="Text 9"/>
          <p:cNvSpPr/>
          <p:nvPr/>
        </p:nvSpPr>
        <p:spPr>
          <a:xfrm>
            <a:off x="3566160" y="13624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12" name="Text 10"/>
          <p:cNvSpPr/>
          <p:nvPr/>
        </p:nvSpPr>
        <p:spPr>
          <a:xfrm>
            <a:off x="3931920" y="1289304"/>
            <a:ext cx="4572000" cy="237744"/>
          </a:xfrm>
          <a:prstGeom prst="rect">
            <a:avLst/>
          </a:prstGeom>
          <a:noFill/>
          <a:ln/>
        </p:spPr>
        <p:txBody>
          <a:bodyPr wrap="square" lIns="0" tIns="0" rIns="0" bIns="0"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All 27 label columns</a:t>
            </a:r>
            <a:endParaRPr lang="en-US" sz="1200" dirty="0"/>
          </a:p>
        </p:txBody>
      </p:sp>
      <p:sp>
        <p:nvSpPr>
          <p:cNvPr id="13" name="Text 11"/>
          <p:cNvSpPr/>
          <p:nvPr/>
        </p:nvSpPr>
        <p:spPr>
          <a:xfrm>
            <a:off x="3931920" y="1517904"/>
            <a:ext cx="4572000" cy="20116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Exact match on all shared impression_ids</a:t>
            </a:r>
            <a:endParaRPr lang="en-US" sz="1000" dirty="0"/>
          </a:p>
        </p:txBody>
      </p:sp>
      <p:sp>
        <p:nvSpPr>
          <p:cNvPr id="14" name="Shape 12"/>
          <p:cNvSpPr/>
          <p:nvPr/>
        </p:nvSpPr>
        <p:spPr>
          <a:xfrm>
            <a:off x="3429000" y="1828800"/>
            <a:ext cx="5212080" cy="530352"/>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3566160" y="1956816"/>
            <a:ext cx="274320" cy="274320"/>
          </a:xfrm>
          <a:prstGeom prst="oval">
            <a:avLst/>
          </a:prstGeom>
          <a:solidFill>
            <a:srgbClr val="059669"/>
          </a:solidFill>
          <a:ln w="12700">
            <a:solidFill>
              <a:srgbClr val="059669"/>
            </a:solidFill>
            <a:prstDash val="solid"/>
          </a:ln>
        </p:spPr>
      </p:sp>
      <p:sp>
        <p:nvSpPr>
          <p:cNvPr id="16" name="Text 14"/>
          <p:cNvSpPr/>
          <p:nvPr/>
        </p:nvSpPr>
        <p:spPr>
          <a:xfrm>
            <a:off x="3566160" y="19568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17" name="Text 15"/>
          <p:cNvSpPr/>
          <p:nvPr/>
        </p:nvSpPr>
        <p:spPr>
          <a:xfrm>
            <a:off x="3931920" y="1883664"/>
            <a:ext cx="4572000" cy="237744"/>
          </a:xfrm>
          <a:prstGeom prst="rect">
            <a:avLst/>
          </a:prstGeom>
          <a:noFill/>
          <a:ln/>
        </p:spPr>
        <p:txBody>
          <a:bodyPr wrap="square" lIns="0" tIns="0" rIns="0" bIns="0"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Split assignments</a:t>
            </a:r>
            <a:endParaRPr lang="en-US" sz="1200" dirty="0"/>
          </a:p>
        </p:txBody>
      </p:sp>
      <p:sp>
        <p:nvSpPr>
          <p:cNvPr id="18" name="Text 16"/>
          <p:cNvSpPr/>
          <p:nvPr/>
        </p:nvSpPr>
        <p:spPr>
          <a:xfrm>
            <a:off x="3931920" y="2112264"/>
            <a:ext cx="4572000" cy="20116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Zero cross-split leakage (patient-level)</a:t>
            </a:r>
            <a:endParaRPr lang="en-US" sz="1000" dirty="0"/>
          </a:p>
        </p:txBody>
      </p:sp>
      <p:sp>
        <p:nvSpPr>
          <p:cNvPr id="19" name="Shape 17"/>
          <p:cNvSpPr/>
          <p:nvPr/>
        </p:nvSpPr>
        <p:spPr>
          <a:xfrm>
            <a:off x="3429000" y="2423160"/>
            <a:ext cx="5212080" cy="530352"/>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0" name="Shape 18"/>
          <p:cNvSpPr/>
          <p:nvPr/>
        </p:nvSpPr>
        <p:spPr>
          <a:xfrm>
            <a:off x="3566160" y="2551176"/>
            <a:ext cx="274320" cy="274320"/>
          </a:xfrm>
          <a:prstGeom prst="oval">
            <a:avLst/>
          </a:prstGeom>
          <a:solidFill>
            <a:srgbClr val="F59E0B"/>
          </a:solidFill>
          <a:ln w="12700">
            <a:solidFill>
              <a:srgbClr val="F59E0B"/>
            </a:solidFill>
            <a:prstDash val="solid"/>
          </a:ln>
        </p:spPr>
      </p:sp>
      <p:sp>
        <p:nvSpPr>
          <p:cNvPr id="21" name="Text 19"/>
          <p:cNvSpPr/>
          <p:nvPr/>
        </p:nvSpPr>
        <p:spPr>
          <a:xfrm>
            <a:off x="3566160" y="25511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22" name="Text 20"/>
          <p:cNvSpPr/>
          <p:nvPr/>
        </p:nvSpPr>
        <p:spPr>
          <a:xfrm>
            <a:off x="3931920" y="2478024"/>
            <a:ext cx="4572000" cy="237744"/>
          </a:xfrm>
          <a:prstGeom prst="rect">
            <a:avLst/>
          </a:prstGeom>
          <a:noFill/>
          <a:ln/>
        </p:spPr>
        <p:txBody>
          <a:bodyPr wrap="square" lIns="0" tIns="0" rIns="0" bIns="0"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Duplicate impression_ids</a:t>
            </a:r>
            <a:endParaRPr lang="en-US" sz="1200" dirty="0"/>
          </a:p>
        </p:txBody>
      </p:sp>
      <p:sp>
        <p:nvSpPr>
          <p:cNvPr id="23" name="Text 21"/>
          <p:cNvSpPr/>
          <p:nvPr/>
        </p:nvSpPr>
        <p:spPr>
          <a:xfrm>
            <a:off x="3931920" y="2706624"/>
            <a:ext cx="4572000" cy="20116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12 IDs were doubled — now deduplicated</a:t>
            </a:r>
            <a:endParaRPr lang="en-US" sz="1000" dirty="0"/>
          </a:p>
        </p:txBody>
      </p:sp>
      <p:sp>
        <p:nvSpPr>
          <p:cNvPr id="24" name="Shape 22"/>
          <p:cNvSpPr/>
          <p:nvPr/>
        </p:nvSpPr>
        <p:spPr>
          <a:xfrm>
            <a:off x="3429000" y="3017520"/>
            <a:ext cx="5212080" cy="530352"/>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5" name="Shape 23"/>
          <p:cNvSpPr/>
          <p:nvPr/>
        </p:nvSpPr>
        <p:spPr>
          <a:xfrm>
            <a:off x="3566160" y="3145536"/>
            <a:ext cx="274320" cy="274320"/>
          </a:xfrm>
          <a:prstGeom prst="oval">
            <a:avLst/>
          </a:prstGeom>
          <a:solidFill>
            <a:srgbClr val="4A6B7C"/>
          </a:solidFill>
          <a:ln w="12700">
            <a:solidFill>
              <a:srgbClr val="4A6B7C"/>
            </a:solidFill>
            <a:prstDash val="solid"/>
          </a:ln>
        </p:spPr>
      </p:sp>
      <p:sp>
        <p:nvSpPr>
          <p:cNvPr id="26" name="Text 24"/>
          <p:cNvSpPr/>
          <p:nvPr/>
        </p:nvSpPr>
        <p:spPr>
          <a:xfrm>
            <a:off x="3566160" y="31455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27" name="Text 25"/>
          <p:cNvSpPr/>
          <p:nvPr/>
        </p:nvSpPr>
        <p:spPr>
          <a:xfrm>
            <a:off x="3931920" y="3072384"/>
            <a:ext cx="4572000" cy="237744"/>
          </a:xfrm>
          <a:prstGeom prst="rect">
            <a:avLst/>
          </a:prstGeom>
          <a:noFill/>
          <a:ln/>
        </p:spPr>
        <p:txBody>
          <a:bodyPr wrap="square" lIns="0" tIns="0" rIns="0" bIns="0"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779 dropped records</a:t>
            </a:r>
            <a:endParaRPr lang="en-US" sz="1200" dirty="0"/>
          </a:p>
        </p:txBody>
      </p:sp>
      <p:sp>
        <p:nvSpPr>
          <p:cNvPr id="28" name="Text 26"/>
          <p:cNvSpPr/>
          <p:nvPr/>
        </p:nvSpPr>
        <p:spPr>
          <a:xfrm>
            <a:off x="3931920" y="3300984"/>
            <a:ext cx="4572000" cy="20116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All lack procedure_DATETIME after PHI scrub</a:t>
            </a:r>
            <a:endParaRPr lang="en-US" sz="1000" dirty="0"/>
          </a:p>
        </p:txBody>
      </p:sp>
      <p:sp>
        <p:nvSpPr>
          <p:cNvPr id="29" name="Shape 27"/>
          <p:cNvSpPr/>
          <p:nvPr/>
        </p:nvSpPr>
        <p:spPr>
          <a:xfrm>
            <a:off x="411480" y="3657600"/>
            <a:ext cx="8321040" cy="1188720"/>
          </a:xfrm>
          <a:prstGeom prst="rect">
            <a:avLst/>
          </a:prstGeom>
          <a:solidFill>
            <a:srgbClr val="EBF5FA"/>
          </a:solidFill>
          <a:ln w="6350">
            <a:solidFill>
              <a:srgbClr val="C8E3EE"/>
            </a:solidFill>
            <a:prstDash val="solid"/>
          </a:ln>
        </p:spPr>
      </p:sp>
      <p:sp>
        <p:nvSpPr>
          <p:cNvPr id="30" name="Text 28"/>
          <p:cNvSpPr/>
          <p:nvPr/>
        </p:nvSpPr>
        <p:spPr>
          <a:xfrm>
            <a:off x="594360" y="3749040"/>
            <a:ext cx="365760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Why 779 records are dropped:</a:t>
            </a:r>
            <a:endParaRPr lang="en-US" sz="1100" dirty="0"/>
          </a:p>
        </p:txBody>
      </p:sp>
      <p:sp>
        <p:nvSpPr>
          <p:cNvPr id="31" name="Text 29"/>
          <p:cNvSpPr/>
          <p:nvPr/>
        </p:nvSpPr>
        <p:spPr>
          <a:xfrm>
            <a:off x="594360" y="4023360"/>
            <a:ext cx="7955280" cy="749808"/>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710  procedure_occurrence_id stripped by Stanford PHI de-identification</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69  procedure_occurrence_id present but no DATETIME in Redivis extract</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All 779  also lack note_DATETIME — no valid timestamp anchor exists</a:t>
            </a:r>
            <a:endParaRPr lang="en-US" sz="1100" dirty="0"/>
          </a:p>
        </p:txBody>
      </p:sp>
      <p:sp>
        <p:nvSpPr>
          <p:cNvPr id="32" name="Text 30"/>
          <p:cNvSpPr/>
          <p:nvPr/>
        </p:nvSpPr>
        <p:spPr>
          <a:xfrm>
            <a:off x="4754880" y="3749040"/>
            <a:ext cx="3840480" cy="256032"/>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Validated: excluding them does not change benchmark AUROC</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CODE QUALITY</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3 Bugs Found &amp; Fixed in merge_labels.py</a:t>
            </a:r>
            <a:endParaRPr lang="en-US" sz="3400" dirty="0"/>
          </a:p>
        </p:txBody>
      </p:sp>
      <p:sp>
        <p:nvSpPr>
          <p:cNvPr id="5" name="Shape 3"/>
          <p:cNvSpPr/>
          <p:nvPr/>
        </p:nvSpPr>
        <p:spPr>
          <a:xfrm>
            <a:off x="411480" y="1234440"/>
            <a:ext cx="8321040" cy="1115568"/>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548640" y="1618488"/>
            <a:ext cx="347472" cy="347472"/>
          </a:xfrm>
          <a:prstGeom prst="oval">
            <a:avLst/>
          </a:prstGeom>
          <a:solidFill>
            <a:srgbClr val="DC2626"/>
          </a:solidFill>
          <a:ln w="12700">
            <a:solidFill>
              <a:srgbClr val="DC2626"/>
            </a:solidFill>
            <a:prstDash val="solid"/>
          </a:ln>
        </p:spPr>
      </p:sp>
      <p:sp>
        <p:nvSpPr>
          <p:cNvPr id="7" name="Text 5"/>
          <p:cNvSpPr/>
          <p:nvPr/>
        </p:nvSpPr>
        <p:spPr>
          <a:xfrm>
            <a:off x="548640" y="16184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005840" y="1325880"/>
            <a:ext cx="7498080" cy="274320"/>
          </a:xfrm>
          <a:prstGeom prst="rect">
            <a:avLst/>
          </a:prstGeom>
          <a:noFill/>
          <a:ln/>
        </p:spPr>
        <p:txBody>
          <a:bodyPr wrap="square" lIns="0" tIns="0" rIns="0" bIns="0"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Dead OMOP joins</a:t>
            </a:r>
            <a:endParaRPr lang="en-US" sz="1300" dirty="0"/>
          </a:p>
        </p:txBody>
      </p:sp>
      <p:sp>
        <p:nvSpPr>
          <p:cNvPr id="9" name="Text 7"/>
          <p:cNvSpPr/>
          <p:nvPr/>
        </p:nvSpPr>
        <p:spPr>
          <a:xfrm>
            <a:off x="1005840" y="1600200"/>
            <a:ext cx="7498080" cy="33832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Before: visit_occurrence &amp; procedure_occurrence were loaded, aggregated, left-joined — but the resulting columns were never wired into the StudyTime fallback. The README described a '5-tier fallback strategy' that didn't exist in the code.</a:t>
            </a:r>
            <a:endParaRPr lang="en-US" sz="1000" dirty="0"/>
          </a:p>
        </p:txBody>
      </p:sp>
      <p:sp>
        <p:nvSpPr>
          <p:cNvPr id="10" name="Text 8"/>
          <p:cNvSpPr/>
          <p:nvPr/>
        </p:nvSpPr>
        <p:spPr>
          <a:xfrm>
            <a:off x="1005840" y="1938528"/>
            <a:ext cx="7498080" cy="338328"/>
          </a:xfrm>
          <a:prstGeom prst="rect">
            <a:avLst/>
          </a:prstGeom>
          <a:noFill/>
          <a:ln/>
        </p:spPr>
        <p:txBody>
          <a:bodyPr wrap="square" lIns="0" tIns="0" rIns="0" bIns="0" rtlCol="0" anchor="ctr"/>
          <a:lstStyle/>
          <a:p>
            <a:pPr indent="0" marL="0">
              <a:buNone/>
            </a:pPr>
            <a:r>
              <a:rPr lang="en-US" sz="1000" dirty="0">
                <a:solidFill>
                  <a:srgbClr val="047857"/>
                </a:solidFill>
                <a:latin typeface="Calibri" pitchFamily="34" charset="0"/>
                <a:ea typeface="Calibri" pitchFamily="34" charset="-122"/>
                <a:cs typeface="Calibri" pitchFamily="34" charset="-120"/>
              </a:rPr>
              <a:t>Fix: Removed the dead I/O entirely. The actual fallback chain is procedure_DATETIME → note_DATETIME → drop, now made explicit.</a:t>
            </a:r>
            <a:endParaRPr lang="en-US" sz="1000" dirty="0"/>
          </a:p>
        </p:txBody>
      </p:sp>
      <p:sp>
        <p:nvSpPr>
          <p:cNvPr id="11" name="Shape 9"/>
          <p:cNvSpPr/>
          <p:nvPr/>
        </p:nvSpPr>
        <p:spPr>
          <a:xfrm>
            <a:off x="411480" y="2441448"/>
            <a:ext cx="8321040" cy="1115568"/>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2" name="Shape 10"/>
          <p:cNvSpPr/>
          <p:nvPr/>
        </p:nvSpPr>
        <p:spPr>
          <a:xfrm>
            <a:off x="548640" y="2825496"/>
            <a:ext cx="347472" cy="347472"/>
          </a:xfrm>
          <a:prstGeom prst="oval">
            <a:avLst/>
          </a:prstGeom>
          <a:solidFill>
            <a:srgbClr val="DC2626"/>
          </a:solidFill>
          <a:ln w="12700">
            <a:solidFill>
              <a:srgbClr val="DC2626"/>
            </a:solidFill>
            <a:prstDash val="solid"/>
          </a:ln>
        </p:spPr>
      </p:sp>
      <p:sp>
        <p:nvSpPr>
          <p:cNvPr id="13" name="Text 11"/>
          <p:cNvSpPr/>
          <p:nvPr/>
        </p:nvSpPr>
        <p:spPr>
          <a:xfrm>
            <a:off x="548640" y="28254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1005840" y="2532888"/>
            <a:ext cx="7498080" cy="274320"/>
          </a:xfrm>
          <a:prstGeom prst="rect">
            <a:avLst/>
          </a:prstGeom>
          <a:noFill/>
          <a:ln/>
        </p:spPr>
        <p:txBody>
          <a:bodyPr wrap="square" lIns="0" tIns="0" rIns="0" bIns="0"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.min() mislabelled as 'latest'</a:t>
            </a:r>
            <a:endParaRPr lang="en-US" sz="1300" dirty="0"/>
          </a:p>
        </p:txBody>
      </p:sp>
      <p:sp>
        <p:nvSpPr>
          <p:cNvPr id="15" name="Text 13"/>
          <p:cNvSpPr/>
          <p:nvPr/>
        </p:nvSpPr>
        <p:spPr>
          <a:xfrm>
            <a:off x="1005840" y="2807208"/>
            <a:ext cx="7498080" cy="33832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Before: Both OMOP aggregations used .min() but were stored in variables named latest_visits and latest_procs — dead code either way, but semantically wrong.</a:t>
            </a:r>
            <a:endParaRPr lang="en-US" sz="1000" dirty="0"/>
          </a:p>
        </p:txBody>
      </p:sp>
      <p:sp>
        <p:nvSpPr>
          <p:cNvPr id="16" name="Text 14"/>
          <p:cNvSpPr/>
          <p:nvPr/>
        </p:nvSpPr>
        <p:spPr>
          <a:xfrm>
            <a:off x="1005840" y="3145536"/>
            <a:ext cx="7498080" cy="338328"/>
          </a:xfrm>
          <a:prstGeom prst="rect">
            <a:avLst/>
          </a:prstGeom>
          <a:noFill/>
          <a:ln/>
        </p:spPr>
        <p:txBody>
          <a:bodyPr wrap="square" lIns="0" tIns="0" rIns="0" bIns="0" rtlCol="0" anchor="ctr"/>
          <a:lstStyle/>
          <a:p>
            <a:pPr indent="0" marL="0">
              <a:buNone/>
            </a:pPr>
            <a:r>
              <a:rPr lang="en-US" sz="1000" dirty="0">
                <a:solidFill>
                  <a:srgbClr val="047857"/>
                </a:solidFill>
                <a:latin typeface="Calibri" pitchFamily="34" charset="0"/>
                <a:ea typeface="Calibri" pitchFamily="34" charset="-122"/>
                <a:cs typeface="Calibri" pitchFamily="34" charset="-120"/>
              </a:rPr>
              <a:t>Fix: Removed with the dead joins. Noted in code comments for future reference.</a:t>
            </a:r>
            <a:endParaRPr lang="en-US" sz="1000" dirty="0"/>
          </a:p>
        </p:txBody>
      </p:sp>
      <p:sp>
        <p:nvSpPr>
          <p:cNvPr id="17" name="Shape 15"/>
          <p:cNvSpPr/>
          <p:nvPr/>
        </p:nvSpPr>
        <p:spPr>
          <a:xfrm>
            <a:off x="411480" y="3648456"/>
            <a:ext cx="8321040" cy="1115568"/>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8" name="Shape 16"/>
          <p:cNvSpPr/>
          <p:nvPr/>
        </p:nvSpPr>
        <p:spPr>
          <a:xfrm>
            <a:off x="548640" y="4032504"/>
            <a:ext cx="347472" cy="347472"/>
          </a:xfrm>
          <a:prstGeom prst="oval">
            <a:avLst/>
          </a:prstGeom>
          <a:solidFill>
            <a:srgbClr val="DC2626"/>
          </a:solidFill>
          <a:ln w="12700">
            <a:solidFill>
              <a:srgbClr val="DC2626"/>
            </a:solidFill>
            <a:prstDash val="solid"/>
          </a:ln>
        </p:spPr>
      </p:sp>
      <p:sp>
        <p:nvSpPr>
          <p:cNvPr id="19" name="Text 17"/>
          <p:cNvSpPr/>
          <p:nvPr/>
        </p:nvSpPr>
        <p:spPr>
          <a:xfrm>
            <a:off x="548640" y="40325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p:nvPr/>
        </p:nvSpPr>
        <p:spPr>
          <a:xfrm>
            <a:off x="1005840" y="3739896"/>
            <a:ext cx="7498080" cy="274320"/>
          </a:xfrm>
          <a:prstGeom prst="rect">
            <a:avLst/>
          </a:prstGeom>
          <a:noFill/>
          <a:ln/>
        </p:spPr>
        <p:txBody>
          <a:bodyPr wrap="square" lIns="0" tIns="0" rIns="0" bIns="0"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12 duplicate impression_ids in output</a:t>
            </a:r>
            <a:endParaRPr lang="en-US" sz="1300" dirty="0"/>
          </a:p>
        </p:txBody>
      </p:sp>
      <p:sp>
        <p:nvSpPr>
          <p:cNvPr id="21" name="Text 19"/>
          <p:cNvSpPr/>
          <p:nvPr/>
        </p:nvSpPr>
        <p:spPr>
          <a:xfrm>
            <a:off x="1005840" y="4014216"/>
            <a:ext cx="7498080" cy="338328"/>
          </a:xfrm>
          <a:prstGeom prst="rect">
            <a:avLst/>
          </a:prstGeom>
          <a:noFill/>
          <a:ln/>
        </p:spPr>
        <p:txBody>
          <a:bodyPr wrap="square" lIns="0" tIns="0" rIns="0" bIns="0" rtlCol="0" anchor="ctr"/>
          <a:lstStyle/>
          <a:p>
            <a:pPr indent="0" marL="0">
              <a:buNone/>
            </a:pPr>
            <a:r>
              <a:rPr lang="en-US" sz="1000" dirty="0">
                <a:solidFill>
                  <a:srgbClr val="4A6B7C"/>
                </a:solidFill>
                <a:latin typeface="Calibri" pitchFamily="34" charset="0"/>
                <a:ea typeface="Calibri" pitchFamily="34" charset="-122"/>
                <a:cs typeface="Calibri" pitchFamily="34" charset="-120"/>
              </a:rPr>
              <a:t>Before: The splits join fan-out caused 12 impression_ids to appear twice, inflating row count (22,469 rows, only 22,457 unique IDs). Duplicates were within-split only, so not leakage — but distorted sample counts.</a:t>
            </a:r>
            <a:endParaRPr lang="en-US" sz="1000" dirty="0"/>
          </a:p>
        </p:txBody>
      </p:sp>
      <p:sp>
        <p:nvSpPr>
          <p:cNvPr id="22" name="Text 20"/>
          <p:cNvSpPr/>
          <p:nvPr/>
        </p:nvSpPr>
        <p:spPr>
          <a:xfrm>
            <a:off x="1005840" y="4352544"/>
            <a:ext cx="7498080" cy="338328"/>
          </a:xfrm>
          <a:prstGeom prst="rect">
            <a:avLst/>
          </a:prstGeom>
          <a:noFill/>
          <a:ln/>
        </p:spPr>
        <p:txBody>
          <a:bodyPr wrap="square" lIns="0" tIns="0" rIns="0" bIns="0" rtlCol="0" anchor="ctr"/>
          <a:lstStyle/>
          <a:p>
            <a:pPr indent="0" marL="0">
              <a:buNone/>
            </a:pPr>
            <a:r>
              <a:rPr lang="en-US" sz="1000" dirty="0">
                <a:solidFill>
                  <a:srgbClr val="047857"/>
                </a:solidFill>
                <a:latin typeface="Calibri" pitchFamily="34" charset="0"/>
                <a:ea typeface="Calibri" pitchFamily="34" charset="-122"/>
                <a:cs typeface="Calibri" pitchFamily="34" charset="-120"/>
              </a:rPr>
              <a:t>Fix: Deduplicate on impression_id before writing. Safety check raises an error if any duplicates span splits.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IMAGE PIPELINE</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CTPA Embeddings: Two Approaches</a:t>
            </a:r>
            <a:endParaRPr lang="en-US" sz="3400" dirty="0"/>
          </a:p>
        </p:txBody>
      </p:sp>
      <p:sp>
        <p:nvSpPr>
          <p:cNvPr id="5" name="Shape 3"/>
          <p:cNvSpPr/>
          <p:nvPr/>
        </p:nvSpPr>
        <p:spPr>
          <a:xfrm>
            <a:off x="411480" y="1234440"/>
            <a:ext cx="3977640" cy="361188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411480" y="1234440"/>
            <a:ext cx="3977640" cy="384048"/>
          </a:xfrm>
          <a:prstGeom prst="rect">
            <a:avLst/>
          </a:prstGeom>
          <a:solidFill>
            <a:srgbClr val="1C7293"/>
          </a:solidFill>
          <a:ln w="12700">
            <a:solidFill>
              <a:srgbClr val="1C7293"/>
            </a:solidFill>
            <a:prstDash val="solid"/>
          </a:ln>
        </p:spPr>
      </p:sp>
      <p:sp>
        <p:nvSpPr>
          <p:cNvPr id="7" name="Text 5"/>
          <p:cNvSpPr/>
          <p:nvPr/>
        </p:nvSpPr>
        <p:spPr>
          <a:xfrm>
            <a:off x="411480" y="1234440"/>
            <a:ext cx="39776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A  —  Original INSPECT (NeurIPS 2023)</a:t>
            </a:r>
            <a:endParaRPr lang="en-US" sz="1100" dirty="0"/>
          </a:p>
        </p:txBody>
      </p:sp>
      <p:sp>
        <p:nvSpPr>
          <p:cNvPr id="8" name="Text 6"/>
          <p:cNvSpPr/>
          <p:nvPr/>
        </p:nvSpPr>
        <p:spPr>
          <a:xfrm>
            <a:off x="594360" y="1719072"/>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1. Fine-tune ResNetV2-101×3 on RSPECT</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(~12K CTPAs, PE detection labels — free on Kaggle)</a:t>
            </a:r>
            <a:endParaRPr lang="en-US" sz="1100" dirty="0"/>
          </a:p>
        </p:txBody>
      </p:sp>
      <p:sp>
        <p:nvSpPr>
          <p:cNvPr id="9" name="Shape 7"/>
          <p:cNvSpPr/>
          <p:nvPr/>
        </p:nvSpPr>
        <p:spPr>
          <a:xfrm>
            <a:off x="594360" y="2331720"/>
            <a:ext cx="3474720" cy="0"/>
          </a:xfrm>
          <a:prstGeom prst="line">
            <a:avLst/>
          </a:prstGeom>
          <a:noFill/>
          <a:ln w="6350">
            <a:solidFill>
              <a:srgbClr val="D1E8F0"/>
            </a:solidFill>
            <a:prstDash val="solid"/>
          </a:ln>
        </p:spPr>
      </p:sp>
      <p:sp>
        <p:nvSpPr>
          <p:cNvPr id="10" name="Text 8"/>
          <p:cNvSpPr/>
          <p:nvPr/>
        </p:nvSpPr>
        <p:spPr>
          <a:xfrm>
            <a:off x="594360" y="2432304"/>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2. 3-channel CT windowing per slice</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(lung / PE / mediastinum → 224×224×3)</a:t>
            </a:r>
            <a:endParaRPr lang="en-US" sz="1100" dirty="0"/>
          </a:p>
        </p:txBody>
      </p:sp>
      <p:sp>
        <p:nvSpPr>
          <p:cNvPr id="11" name="Shape 9"/>
          <p:cNvSpPr/>
          <p:nvPr/>
        </p:nvSpPr>
        <p:spPr>
          <a:xfrm>
            <a:off x="594360" y="3044952"/>
            <a:ext cx="3474720" cy="0"/>
          </a:xfrm>
          <a:prstGeom prst="line">
            <a:avLst/>
          </a:prstGeom>
          <a:noFill/>
          <a:ln w="6350">
            <a:solidFill>
              <a:srgbClr val="D1E8F0"/>
            </a:solidFill>
            <a:prstDash val="solid"/>
          </a:ln>
        </p:spPr>
      </p:sp>
      <p:sp>
        <p:nvSpPr>
          <p:cNvPr id="12" name="Text 10"/>
          <p:cNvSpPr/>
          <p:nvPr/>
        </p:nvSpPr>
        <p:spPr>
          <a:xfrm>
            <a:off x="594360" y="3145536"/>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3. Encode slices independently → GRU</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over slice sequence → classification head</a:t>
            </a:r>
            <a:endParaRPr lang="en-US" sz="1100" dirty="0"/>
          </a:p>
        </p:txBody>
      </p:sp>
      <p:sp>
        <p:nvSpPr>
          <p:cNvPr id="13" name="Shape 11"/>
          <p:cNvSpPr/>
          <p:nvPr/>
        </p:nvSpPr>
        <p:spPr>
          <a:xfrm>
            <a:off x="594360" y="3758184"/>
            <a:ext cx="3474720" cy="0"/>
          </a:xfrm>
          <a:prstGeom prst="line">
            <a:avLst/>
          </a:prstGeom>
          <a:noFill/>
          <a:ln w="6350">
            <a:solidFill>
              <a:srgbClr val="D1E8F0"/>
            </a:solidFill>
            <a:prstDash val="solid"/>
          </a:ln>
        </p:spPr>
      </p:sp>
      <p:sp>
        <p:nvSpPr>
          <p:cNvPr id="14" name="Text 12"/>
          <p:cNvSpPr/>
          <p:nvPr/>
        </p:nvSpPr>
        <p:spPr>
          <a:xfrm>
            <a:off x="594360" y="3858768"/>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4. Train end-to-end on INSPECT labels</a:t>
            </a:r>
            <a:endParaRPr lang="en-US" sz="1100" dirty="0"/>
          </a:p>
        </p:txBody>
      </p:sp>
      <p:sp>
        <p:nvSpPr>
          <p:cNvPr id="15" name="Text 13"/>
          <p:cNvSpPr/>
          <p:nvPr/>
        </p:nvSpPr>
        <p:spPr>
          <a:xfrm>
            <a:off x="594360" y="4370832"/>
            <a:ext cx="3657600" cy="32004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 Reproduces paper's reported numbers</a:t>
            </a:r>
            <a:endParaRPr lang="en-US" sz="1100" dirty="0"/>
          </a:p>
        </p:txBody>
      </p:sp>
      <p:sp>
        <p:nvSpPr>
          <p:cNvPr id="16" name="Text 14"/>
          <p:cNvSpPr/>
          <p:nvPr/>
        </p:nvSpPr>
        <p:spPr>
          <a:xfrm>
            <a:off x="594360" y="4645152"/>
            <a:ext cx="3657600" cy="137160"/>
          </a:xfrm>
          <a:prstGeom prst="rect">
            <a:avLst/>
          </a:prstGeom>
          <a:noFill/>
          <a:ln/>
        </p:spPr>
        <p:txBody>
          <a:bodyPr wrap="square" rtlCol="0" anchor="ctr"/>
          <a:lstStyle/>
          <a:p>
            <a:pPr indent="0" marL="0">
              <a:buNone/>
            </a:pPr>
            <a:r>
              <a:rPr lang="en-US" sz="1000" dirty="0">
                <a:solidFill>
                  <a:srgbClr val="F59E0B"/>
                </a:solidFill>
                <a:latin typeface="Calibri" pitchFamily="34" charset="0"/>
                <a:ea typeface="Calibri" pitchFamily="34" charset="-122"/>
                <a:cs typeface="Calibri" pitchFamily="34" charset="-120"/>
              </a:rPr>
              <a:t>⚡ RSPECT fine-tuning is the missing step</a:t>
            </a:r>
            <a:endParaRPr lang="en-US" sz="1000" dirty="0"/>
          </a:p>
        </p:txBody>
      </p:sp>
      <p:sp>
        <p:nvSpPr>
          <p:cNvPr id="17" name="Shape 15"/>
          <p:cNvSpPr/>
          <p:nvPr/>
        </p:nvSpPr>
        <p:spPr>
          <a:xfrm>
            <a:off x="4754880" y="1234440"/>
            <a:ext cx="3977640" cy="3611880"/>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8" name="Shape 16"/>
          <p:cNvSpPr/>
          <p:nvPr/>
        </p:nvSpPr>
        <p:spPr>
          <a:xfrm>
            <a:off x="4754880" y="1234440"/>
            <a:ext cx="3977640" cy="384048"/>
          </a:xfrm>
          <a:prstGeom prst="rect">
            <a:avLst/>
          </a:prstGeom>
          <a:solidFill>
            <a:srgbClr val="02C39A"/>
          </a:solidFill>
          <a:ln w="12700">
            <a:solidFill>
              <a:srgbClr val="02C39A"/>
            </a:solidFill>
            <a:prstDash val="solid"/>
          </a:ln>
        </p:spPr>
      </p:sp>
      <p:sp>
        <p:nvSpPr>
          <p:cNvPr id="19" name="Text 17"/>
          <p:cNvSpPr/>
          <p:nvPr/>
        </p:nvSpPr>
        <p:spPr>
          <a:xfrm>
            <a:off x="4754880" y="1234440"/>
            <a:ext cx="3977640" cy="384048"/>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PATH B  —  TTE Pretraining (ICLR 2025)</a:t>
            </a:r>
            <a:endParaRPr lang="en-US" sz="1100" dirty="0"/>
          </a:p>
        </p:txBody>
      </p:sp>
      <p:sp>
        <p:nvSpPr>
          <p:cNvPr id="20" name="Text 18"/>
          <p:cNvSpPr/>
          <p:nvPr/>
        </p:nvSpPr>
        <p:spPr>
          <a:xfrm>
            <a:off x="4937760" y="1719072"/>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1. Download pretrained 3D backbone</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from HuggingFace (StanfordShahLab/</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image-models)</a:t>
            </a:r>
            <a:endParaRPr lang="en-US" sz="1100" dirty="0"/>
          </a:p>
        </p:txBody>
      </p:sp>
      <p:sp>
        <p:nvSpPr>
          <p:cNvPr id="21" name="Shape 19"/>
          <p:cNvSpPr/>
          <p:nvPr/>
        </p:nvSpPr>
        <p:spPr>
          <a:xfrm>
            <a:off x="4937760" y="2331720"/>
            <a:ext cx="3474720" cy="0"/>
          </a:xfrm>
          <a:prstGeom prst="line">
            <a:avLst/>
          </a:prstGeom>
          <a:noFill/>
          <a:ln w="6350">
            <a:solidFill>
              <a:srgbClr val="D1E8F0"/>
            </a:solidFill>
            <a:prstDash val="solid"/>
          </a:ln>
        </p:spPr>
      </p:sp>
      <p:sp>
        <p:nvSpPr>
          <p:cNvPr id="22" name="Text 20"/>
          <p:cNvSpPr/>
          <p:nvPr/>
        </p:nvSpPr>
        <p:spPr>
          <a:xfrm>
            <a:off x="4937760" y="2432304"/>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2. SwinUNETR / DenseNet-121 /</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ResNet-152 pretrained with TTE</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survival objectives on INSPECT</a:t>
            </a:r>
            <a:endParaRPr lang="en-US" sz="1100" dirty="0"/>
          </a:p>
        </p:txBody>
      </p:sp>
      <p:sp>
        <p:nvSpPr>
          <p:cNvPr id="23" name="Shape 21"/>
          <p:cNvSpPr/>
          <p:nvPr/>
        </p:nvSpPr>
        <p:spPr>
          <a:xfrm>
            <a:off x="4937760" y="3044952"/>
            <a:ext cx="3474720" cy="0"/>
          </a:xfrm>
          <a:prstGeom prst="line">
            <a:avLst/>
          </a:prstGeom>
          <a:noFill/>
          <a:ln w="6350">
            <a:solidFill>
              <a:srgbClr val="D1E8F0"/>
            </a:solidFill>
            <a:prstDash val="solid"/>
          </a:ln>
        </p:spPr>
      </p:sp>
      <p:sp>
        <p:nvSpPr>
          <p:cNvPr id="24" name="Text 22"/>
          <p:cNvSpPr/>
          <p:nvPr/>
        </p:nvSpPr>
        <p:spPr>
          <a:xfrm>
            <a:off x="4937760" y="3145536"/>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3. Extract fixed embeddings</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(no fine-tuning needed)</a:t>
            </a:r>
            <a:endParaRPr lang="en-US" sz="1100" dirty="0"/>
          </a:p>
        </p:txBody>
      </p:sp>
      <p:sp>
        <p:nvSpPr>
          <p:cNvPr id="25" name="Shape 23"/>
          <p:cNvSpPr/>
          <p:nvPr/>
        </p:nvSpPr>
        <p:spPr>
          <a:xfrm>
            <a:off x="4937760" y="3758184"/>
            <a:ext cx="3474720" cy="0"/>
          </a:xfrm>
          <a:prstGeom prst="line">
            <a:avLst/>
          </a:prstGeom>
          <a:noFill/>
          <a:ln w="6350">
            <a:solidFill>
              <a:srgbClr val="D1E8F0"/>
            </a:solidFill>
            <a:prstDash val="solid"/>
          </a:ln>
        </p:spPr>
      </p:sp>
      <p:sp>
        <p:nvSpPr>
          <p:cNvPr id="26" name="Text 24"/>
          <p:cNvSpPr/>
          <p:nvPr/>
        </p:nvSpPr>
        <p:spPr>
          <a:xfrm>
            <a:off x="4937760" y="3858768"/>
            <a:ext cx="3657600" cy="64008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4. Fit linear probe (logistic reg.</a:t>
            </a: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    or Cox-PH for TTE tasks)</a:t>
            </a:r>
            <a:endParaRPr lang="en-US" sz="1100" dirty="0"/>
          </a:p>
        </p:txBody>
      </p:sp>
      <p:sp>
        <p:nvSpPr>
          <p:cNvPr id="27" name="Text 25"/>
          <p:cNvSpPr/>
          <p:nvPr/>
        </p:nvSpPr>
        <p:spPr>
          <a:xfrm>
            <a:off x="4937760" y="4370832"/>
            <a:ext cx="3657600" cy="320040"/>
          </a:xfrm>
          <a:prstGeom prst="rect">
            <a:avLst/>
          </a:prstGeom>
          <a:noFill/>
          <a:ln/>
        </p:spPr>
        <p:txBody>
          <a:bodyPr wrap="square" rtlCol="0" anchor="ctr"/>
          <a:lstStyle/>
          <a:p>
            <a:pPr indent="0" marL="0">
              <a:buNone/>
            </a:pPr>
            <a:r>
              <a:rPr lang="en-US" sz="1100" b="1" dirty="0">
                <a:solidFill>
                  <a:srgbClr val="047857"/>
                </a:solidFill>
                <a:latin typeface="Calibri" pitchFamily="34" charset="0"/>
                <a:ea typeface="Calibri" pitchFamily="34" charset="-122"/>
                <a:cs typeface="Calibri" pitchFamily="34" charset="-120"/>
              </a:rPr>
              <a:t>→ Best embeddings for custom analyses</a:t>
            </a:r>
            <a:endParaRPr lang="en-US" sz="1100" dirty="0"/>
          </a:p>
        </p:txBody>
      </p:sp>
      <p:sp>
        <p:nvSpPr>
          <p:cNvPr id="28" name="Text 26"/>
          <p:cNvSpPr/>
          <p:nvPr/>
        </p:nvSpPr>
        <p:spPr>
          <a:xfrm>
            <a:off x="4937760" y="4645152"/>
            <a:ext cx="3657600" cy="137160"/>
          </a:xfrm>
          <a:prstGeom prst="rect">
            <a:avLst/>
          </a:prstGeom>
          <a:noFill/>
          <a:ln/>
        </p:spPr>
        <p:txBody>
          <a:bodyPr wrap="square" rtlCol="0" anchor="ctr"/>
          <a:lstStyle/>
          <a:p>
            <a:pPr indent="0" marL="0">
              <a:buNone/>
            </a:pPr>
            <a:r>
              <a:rPr lang="en-US" sz="1000" dirty="0">
                <a:solidFill>
                  <a:srgbClr val="059669"/>
                </a:solidFill>
                <a:latin typeface="Calibri" pitchFamily="34" charset="0"/>
                <a:ea typeface="Calibri" pitchFamily="34" charset="-122"/>
                <a:cs typeface="Calibri" pitchFamily="34" charset="-120"/>
              </a:rPr>
              <a:t>✓ Weights ready to download — no GPU training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457200" y="310896"/>
            <a:ext cx="1463040" cy="256032"/>
          </a:xfrm>
          <a:prstGeom prst="rect">
            <a:avLst>
              <a:gd name="adj" fmla="val 17857"/>
            </a:avLst>
          </a:prstGeom>
          <a:solidFill>
            <a:srgbClr val="02C39A"/>
          </a:solidFill>
          <a:ln w="12700">
            <a:solidFill>
              <a:srgbClr val="02C39A"/>
            </a:solidFill>
            <a:prstDash val="solid"/>
          </a:ln>
        </p:spPr>
      </p:sp>
      <p:sp>
        <p:nvSpPr>
          <p:cNvPr id="3" name="Text 1"/>
          <p:cNvSpPr/>
          <p:nvPr/>
        </p:nvSpPr>
        <p:spPr>
          <a:xfrm>
            <a:off x="457200" y="310896"/>
            <a:ext cx="1463040" cy="256032"/>
          </a:xfrm>
          <a:prstGeom prst="rect">
            <a:avLst/>
          </a:prstGeom>
          <a:noFill/>
          <a:ln/>
        </p:spPr>
        <p:txBody>
          <a:bodyPr wrap="square" lIns="0" tIns="0" rIns="0" bIns="0" rtlCol="0" anchor="ctr"/>
          <a:lstStyle/>
          <a:p>
            <a:pPr algn="ctr" indent="0" marL="0">
              <a:buNone/>
            </a:pPr>
            <a:r>
              <a:rPr lang="en-US" sz="900" b="1" dirty="0">
                <a:solidFill>
                  <a:srgbClr val="065A82"/>
                </a:solidFill>
              </a:rPr>
              <a:t>RESULTS</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EHR Baseline Results &amp; Current Status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5303520" cy="914400"/>
        </p:xfrm>
        <a:graphic>
          <a:graphicData uri="http://schemas.openxmlformats.org/drawingml/2006/table">
            <a:tbl>
              <a:tblPr/>
              <a:tblGrid>
                <a:gridCol w="2331720"/>
                <a:gridCol w="777240"/>
                <a:gridCol w="1097280"/>
                <a:gridCol w="777240"/>
              </a:tblGrid>
              <a:tr h="37490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Task</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Our GBM</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INSPECT Paper</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Δ AUROC</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65A82"/>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Pulmonary Embolism (PE)</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0.744</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0.681</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+0.063</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1-Month Mortality</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0.932</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0.848</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+0.084</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6-Month Mortality</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0.890</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0.865</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+0.025</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12-Month Mortality</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0.882</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0.855</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+0.027</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1-Month Readmission</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0.774</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0.737</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+0.037</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6-Month Readmission</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0.744</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0.740</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+0.004</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12-Month Readmission</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0.755</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0.728</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+0.027</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r h="374904">
                <a:tc>
                  <a:txBody>
                    <a:bodyPr/>
                    <a:lstStyle/>
                    <a:p>
                      <a:pPr algn="l" indent="0" marL="0">
                        <a:buNone/>
                      </a:pPr>
                      <a:r>
                        <a:rPr lang="en-US" sz="1050" dirty="0">
                          <a:solidFill>
                            <a:srgbClr val="1A2B3C"/>
                          </a:solidFill>
                          <a:latin typeface="Calibri" pitchFamily="34" charset="0"/>
                          <a:ea typeface="Calibri" pitchFamily="34" charset="-122"/>
                          <a:cs typeface="Calibri" pitchFamily="34" charset="-120"/>
                        </a:rPr>
                        <a:t>12-Month Pulm. Hypertension</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0.920</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3C"/>
                          </a:solidFill>
                          <a:latin typeface="Calibri" pitchFamily="34" charset="0"/>
                          <a:ea typeface="Calibri" pitchFamily="34" charset="-122"/>
                          <a:cs typeface="Calibri" pitchFamily="34" charset="-120"/>
                        </a:rPr>
                        <a:t>0.828</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59669"/>
                          </a:solidFill>
                          <a:latin typeface="Calibri" pitchFamily="34" charset="0"/>
                          <a:ea typeface="Calibri" pitchFamily="34" charset="-122"/>
                          <a:cs typeface="Calibri" pitchFamily="34" charset="-120"/>
                        </a:rPr>
                        <a:t>+0.092</a:t>
                      </a:r>
                      <a:endParaRPr lang="en-US" sz="1050" dirty="0">
                        <a:latin typeface="Calibri" charset="0"/>
                        <a:ea typeface="Calibri" charset="0"/>
                        <a:cs typeface="Calibri" charset="0"/>
                      </a:endParaRPr>
                    </a:p>
                  </a:txBody>
                  <a:tcPr marL="91440" marR="91440" marT="45720" marB="45720">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943600" y="1234440"/>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7" name="Shape 4"/>
          <p:cNvSpPr/>
          <p:nvPr/>
        </p:nvSpPr>
        <p:spPr>
          <a:xfrm>
            <a:off x="6053328" y="1353312"/>
            <a:ext cx="256032" cy="256032"/>
          </a:xfrm>
          <a:prstGeom prst="oval">
            <a:avLst/>
          </a:prstGeom>
          <a:solidFill>
            <a:srgbClr val="059669"/>
          </a:solidFill>
          <a:ln w="12700">
            <a:solidFill>
              <a:srgbClr val="059669"/>
            </a:solidFill>
            <a:prstDash val="solid"/>
          </a:ln>
        </p:spPr>
      </p:sp>
      <p:sp>
        <p:nvSpPr>
          <p:cNvPr id="8" name="Text 5"/>
          <p:cNvSpPr/>
          <p:nvPr/>
        </p:nvSpPr>
        <p:spPr>
          <a:xfrm>
            <a:off x="6400800" y="1280160"/>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EHR pipeline</a:t>
            </a:r>
            <a:endParaRPr lang="en-US" sz="1050" dirty="0"/>
          </a:p>
        </p:txBody>
      </p:sp>
      <p:sp>
        <p:nvSpPr>
          <p:cNvPr id="9" name="Text 6"/>
          <p:cNvSpPr/>
          <p:nvPr/>
        </p:nvSpPr>
        <p:spPr>
          <a:xfrm>
            <a:off x="6400800" y="1481328"/>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Complete ✓</a:t>
            </a:r>
            <a:endParaRPr lang="en-US" sz="950" dirty="0"/>
          </a:p>
        </p:txBody>
      </p:sp>
      <p:sp>
        <p:nvSpPr>
          <p:cNvPr id="10" name="Shape 7"/>
          <p:cNvSpPr/>
          <p:nvPr/>
        </p:nvSpPr>
        <p:spPr>
          <a:xfrm>
            <a:off x="5943600" y="1810512"/>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1" name="Shape 8"/>
          <p:cNvSpPr/>
          <p:nvPr/>
        </p:nvSpPr>
        <p:spPr>
          <a:xfrm>
            <a:off x="6053328" y="1929384"/>
            <a:ext cx="256032" cy="256032"/>
          </a:xfrm>
          <a:prstGeom prst="oval">
            <a:avLst/>
          </a:prstGeom>
          <a:solidFill>
            <a:srgbClr val="059669"/>
          </a:solidFill>
          <a:ln w="12700">
            <a:solidFill>
              <a:srgbClr val="059669"/>
            </a:solidFill>
            <a:prstDash val="solid"/>
          </a:ln>
        </p:spPr>
      </p:sp>
      <p:sp>
        <p:nvSpPr>
          <p:cNvPr id="12" name="Text 9"/>
          <p:cNvSpPr/>
          <p:nvPr/>
        </p:nvSpPr>
        <p:spPr>
          <a:xfrm>
            <a:off x="6400800" y="1856232"/>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Cohort file validated</a:t>
            </a:r>
            <a:endParaRPr lang="en-US" sz="1050" dirty="0"/>
          </a:p>
        </p:txBody>
      </p:sp>
      <p:sp>
        <p:nvSpPr>
          <p:cNvPr id="13" name="Text 10"/>
          <p:cNvSpPr/>
          <p:nvPr/>
        </p:nvSpPr>
        <p:spPr>
          <a:xfrm>
            <a:off x="6400800" y="2057400"/>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22,457 records, 0 leakage ✓</a:t>
            </a:r>
            <a:endParaRPr lang="en-US" sz="950" dirty="0"/>
          </a:p>
        </p:txBody>
      </p:sp>
      <p:sp>
        <p:nvSpPr>
          <p:cNvPr id="14" name="Shape 11"/>
          <p:cNvSpPr/>
          <p:nvPr/>
        </p:nvSpPr>
        <p:spPr>
          <a:xfrm>
            <a:off x="5943600" y="2386584"/>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5" name="Shape 12"/>
          <p:cNvSpPr/>
          <p:nvPr/>
        </p:nvSpPr>
        <p:spPr>
          <a:xfrm>
            <a:off x="6053328" y="2505456"/>
            <a:ext cx="256032" cy="256032"/>
          </a:xfrm>
          <a:prstGeom prst="oval">
            <a:avLst/>
          </a:prstGeom>
          <a:solidFill>
            <a:srgbClr val="059669"/>
          </a:solidFill>
          <a:ln w="12700">
            <a:solidFill>
              <a:srgbClr val="059669"/>
            </a:solidFill>
            <a:prstDash val="solid"/>
          </a:ln>
        </p:spPr>
      </p:sp>
      <p:sp>
        <p:nvSpPr>
          <p:cNvPr id="16" name="Text 13"/>
          <p:cNvSpPr/>
          <p:nvPr/>
        </p:nvSpPr>
        <p:spPr>
          <a:xfrm>
            <a:off x="6400800" y="2432304"/>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GBM baseline (all 8 tasks)</a:t>
            </a:r>
            <a:endParaRPr lang="en-US" sz="1050" dirty="0"/>
          </a:p>
        </p:txBody>
      </p:sp>
      <p:sp>
        <p:nvSpPr>
          <p:cNvPr id="17" name="Text 14"/>
          <p:cNvSpPr/>
          <p:nvPr/>
        </p:nvSpPr>
        <p:spPr>
          <a:xfrm>
            <a:off x="6400800" y="2633472"/>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Complete ✓</a:t>
            </a:r>
            <a:endParaRPr lang="en-US" sz="950" dirty="0"/>
          </a:p>
        </p:txBody>
      </p:sp>
      <p:sp>
        <p:nvSpPr>
          <p:cNvPr id="18" name="Shape 15"/>
          <p:cNvSpPr/>
          <p:nvPr/>
        </p:nvSpPr>
        <p:spPr>
          <a:xfrm>
            <a:off x="5943600" y="2962656"/>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19" name="Shape 16"/>
          <p:cNvSpPr/>
          <p:nvPr/>
        </p:nvSpPr>
        <p:spPr>
          <a:xfrm>
            <a:off x="6053328" y="3081528"/>
            <a:ext cx="256032" cy="256032"/>
          </a:xfrm>
          <a:prstGeom prst="oval">
            <a:avLst/>
          </a:prstGeom>
          <a:solidFill>
            <a:srgbClr val="F59E0B"/>
          </a:solidFill>
          <a:ln w="12700">
            <a:solidFill>
              <a:srgbClr val="F59E0B"/>
            </a:solidFill>
            <a:prstDash val="solid"/>
          </a:ln>
        </p:spPr>
      </p:sp>
      <p:sp>
        <p:nvSpPr>
          <p:cNvPr id="20" name="Text 17"/>
          <p:cNvSpPr/>
          <p:nvPr/>
        </p:nvSpPr>
        <p:spPr>
          <a:xfrm>
            <a:off x="6400800" y="3008376"/>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CTPA vectorization</a:t>
            </a:r>
            <a:endParaRPr lang="en-US" sz="1050" dirty="0"/>
          </a:p>
        </p:txBody>
      </p:sp>
      <p:sp>
        <p:nvSpPr>
          <p:cNvPr id="21" name="Text 18"/>
          <p:cNvSpPr/>
          <p:nvPr/>
        </p:nvSpPr>
        <p:spPr>
          <a:xfrm>
            <a:off x="6400800" y="3209544"/>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Running on GCP (L4 GPU)</a:t>
            </a:r>
            <a:endParaRPr lang="en-US" sz="950" dirty="0"/>
          </a:p>
        </p:txBody>
      </p:sp>
      <p:sp>
        <p:nvSpPr>
          <p:cNvPr id="22" name="Shape 19"/>
          <p:cNvSpPr/>
          <p:nvPr/>
        </p:nvSpPr>
        <p:spPr>
          <a:xfrm>
            <a:off x="5943600" y="3538728"/>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3" name="Shape 20"/>
          <p:cNvSpPr/>
          <p:nvPr/>
        </p:nvSpPr>
        <p:spPr>
          <a:xfrm>
            <a:off x="6053328" y="3657600"/>
            <a:ext cx="256032" cy="256032"/>
          </a:xfrm>
          <a:prstGeom prst="oval">
            <a:avLst/>
          </a:prstGeom>
          <a:solidFill>
            <a:srgbClr val="9CA3AF"/>
          </a:solidFill>
          <a:ln w="12700">
            <a:solidFill>
              <a:srgbClr val="9CA3AF"/>
            </a:solidFill>
            <a:prstDash val="solid"/>
          </a:ln>
        </p:spPr>
      </p:sp>
      <p:sp>
        <p:nvSpPr>
          <p:cNvPr id="24" name="Text 21"/>
          <p:cNvSpPr/>
          <p:nvPr/>
        </p:nvSpPr>
        <p:spPr>
          <a:xfrm>
            <a:off x="6400800" y="3584448"/>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RSPECT fine-tuning (Path A)</a:t>
            </a:r>
            <a:endParaRPr lang="en-US" sz="1050" dirty="0"/>
          </a:p>
        </p:txBody>
      </p:sp>
      <p:sp>
        <p:nvSpPr>
          <p:cNvPr id="25" name="Text 22"/>
          <p:cNvSpPr/>
          <p:nvPr/>
        </p:nvSpPr>
        <p:spPr>
          <a:xfrm>
            <a:off x="6400800" y="3785616"/>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Pending — data on Kaggle</a:t>
            </a:r>
            <a:endParaRPr lang="en-US" sz="950" dirty="0"/>
          </a:p>
        </p:txBody>
      </p:sp>
      <p:sp>
        <p:nvSpPr>
          <p:cNvPr id="26" name="Shape 23"/>
          <p:cNvSpPr/>
          <p:nvPr/>
        </p:nvSpPr>
        <p:spPr>
          <a:xfrm>
            <a:off x="5943600" y="4114800"/>
            <a:ext cx="2788920" cy="512064"/>
          </a:xfrm>
          <a:prstGeom prst="rect">
            <a:avLst/>
          </a:prstGeom>
          <a:solidFill>
            <a:srgbClr val="FFFFFF"/>
          </a:solidFill>
          <a:ln w="6350">
            <a:solidFill>
              <a:srgbClr val="D1E8F0"/>
            </a:solidFill>
            <a:prstDash val="solid"/>
          </a:ln>
          <a:effectLst>
            <a:outerShdw sx="100000" sy="100000" kx="0" ky="0" algn="bl" rotWithShape="0" blurRad="101600" dist="25400" dir="2700000">
              <a:srgbClr val="000000">
                <a:alpha val="10000"/>
              </a:srgbClr>
            </a:outerShdw>
          </a:effectLst>
        </p:spPr>
      </p:sp>
      <p:sp>
        <p:nvSpPr>
          <p:cNvPr id="27" name="Shape 24"/>
          <p:cNvSpPr/>
          <p:nvPr/>
        </p:nvSpPr>
        <p:spPr>
          <a:xfrm>
            <a:off x="6053328" y="4233672"/>
            <a:ext cx="256032" cy="256032"/>
          </a:xfrm>
          <a:prstGeom prst="oval">
            <a:avLst/>
          </a:prstGeom>
          <a:solidFill>
            <a:srgbClr val="9CA3AF"/>
          </a:solidFill>
          <a:ln w="12700">
            <a:solidFill>
              <a:srgbClr val="9CA3AF"/>
            </a:solidFill>
            <a:prstDash val="solid"/>
          </a:ln>
        </p:spPr>
      </p:sp>
      <p:sp>
        <p:nvSpPr>
          <p:cNvPr id="28" name="Text 25"/>
          <p:cNvSpPr/>
          <p:nvPr/>
        </p:nvSpPr>
        <p:spPr>
          <a:xfrm>
            <a:off x="6400800" y="4160520"/>
            <a:ext cx="2240280" cy="201168"/>
          </a:xfrm>
          <a:prstGeom prst="rect">
            <a:avLst/>
          </a:prstGeom>
          <a:noFill/>
          <a:ln/>
        </p:spPr>
        <p:txBody>
          <a:bodyPr wrap="square" lIns="0" tIns="0" rIns="0" bIns="0" rtlCol="0" anchor="ctr"/>
          <a:lstStyle/>
          <a:p>
            <a:pPr indent="0" marL="0">
              <a:buNone/>
            </a:pPr>
            <a:r>
              <a:rPr lang="en-US" sz="1050" b="1" dirty="0">
                <a:solidFill>
                  <a:srgbClr val="1A2B3C"/>
                </a:solidFill>
                <a:latin typeface="Calibri" pitchFamily="34" charset="0"/>
                <a:ea typeface="Calibri" pitchFamily="34" charset="-122"/>
                <a:cs typeface="Calibri" pitchFamily="34" charset="-120"/>
              </a:rPr>
              <a:t>TTE weights / Path B</a:t>
            </a:r>
            <a:endParaRPr lang="en-US" sz="1050" dirty="0"/>
          </a:p>
        </p:txBody>
      </p:sp>
      <p:sp>
        <p:nvSpPr>
          <p:cNvPr id="29" name="Text 26"/>
          <p:cNvSpPr/>
          <p:nvPr/>
        </p:nvSpPr>
        <p:spPr>
          <a:xfrm>
            <a:off x="6400800" y="4361688"/>
            <a:ext cx="2240280" cy="201168"/>
          </a:xfrm>
          <a:prstGeom prst="rect">
            <a:avLst/>
          </a:prstGeom>
          <a:noFill/>
          <a:ln/>
        </p:spPr>
        <p:txBody>
          <a:bodyPr wrap="square" lIns="0" tIns="0" rIns="0" bIns="0" rtlCol="0" anchor="ctr"/>
          <a:lstStyle/>
          <a:p>
            <a:pPr indent="0" marL="0">
              <a:buNone/>
            </a:pPr>
            <a:r>
              <a:rPr lang="en-US" sz="950" dirty="0">
                <a:solidFill>
                  <a:srgbClr val="4A6B7C"/>
                </a:solidFill>
                <a:latin typeface="Calibri" pitchFamily="34" charset="0"/>
                <a:ea typeface="Calibri" pitchFamily="34" charset="-122"/>
                <a:cs typeface="Calibri" pitchFamily="34" charset="-120"/>
              </a:rPr>
              <a:t>Pending — HuggingFace download</a:t>
            </a:r>
            <a:endParaRPr lang="en-US" sz="950" dirty="0"/>
          </a:p>
        </p:txBody>
      </p:sp>
      <p:sp>
        <p:nvSpPr>
          <p:cNvPr id="30" name="Shape 27"/>
          <p:cNvSpPr/>
          <p:nvPr/>
        </p:nvSpPr>
        <p:spPr>
          <a:xfrm>
            <a:off x="411480" y="4617720"/>
            <a:ext cx="5303520" cy="292608"/>
          </a:xfrm>
          <a:prstGeom prst="rect">
            <a:avLst/>
          </a:prstGeom>
          <a:solidFill>
            <a:srgbClr val="FEF3C7"/>
          </a:solidFill>
          <a:ln w="6350">
            <a:solidFill>
              <a:srgbClr val="F59E0B"/>
            </a:solidFill>
            <a:prstDash val="solid"/>
          </a:ln>
        </p:spPr>
      </p:sp>
      <p:sp>
        <p:nvSpPr>
          <p:cNvPr id="31" name="Text 28"/>
          <p:cNvSpPr/>
          <p:nvPr/>
        </p:nvSpPr>
        <p:spPr>
          <a:xfrm>
            <a:off x="502920" y="4636008"/>
            <a:ext cx="5120640" cy="256032"/>
          </a:xfrm>
          <a:prstGeom prst="rect">
            <a:avLst/>
          </a:prstGeom>
          <a:noFill/>
          <a:ln/>
        </p:spPr>
        <p:txBody>
          <a:bodyPr wrap="square" lIns="0" tIns="0" rIns="0" bIns="0" rtlCol="0" anchor="ctr"/>
          <a:lstStyle/>
          <a:p>
            <a:pPr indent="0" marL="0">
              <a:buNone/>
            </a:pPr>
            <a:r>
              <a:rPr lang="en-US" sz="950" dirty="0">
                <a:solidFill>
                  <a:srgbClr val="92400E"/>
                </a:solidFill>
                <a:latin typeface="Calibri" pitchFamily="34" charset="0"/>
                <a:ea typeface="Calibri" pitchFamily="34" charset="-122"/>
                <a:cs typeface="Calibri" pitchFamily="34" charset="-120"/>
              </a:rPr>
              <a:t>⚠  AUROC gap likely reflects updated June 2025 NLP labels vs. paper's freeze. Pending author clarification.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oval">
            <a:avLst/>
          </a:prstGeom>
          <a:solidFill>
            <a:srgbClr val="1C7293">
              <a:alpha val="20000"/>
            </a:srgbClr>
          </a:solidFill>
          <a:ln w="12700">
            <a:solidFill>
              <a:srgbClr val="1C7293">
                <a:alpha val="20000"/>
              </a:srgbClr>
            </a:solidFill>
            <a:prstDash val="solid"/>
          </a:ln>
        </p:spPr>
      </p:sp>
      <p:sp>
        <p:nvSpPr>
          <p:cNvPr id="3" name="Text 1"/>
          <p:cNvSpPr/>
          <p:nvPr/>
        </p:nvSpPr>
        <p:spPr>
          <a:xfrm>
            <a:off x="548640" y="411480"/>
            <a:ext cx="5486400" cy="6858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Next Steps</a:t>
            </a:r>
            <a:endParaRPr lang="en-US" sz="4200" dirty="0"/>
          </a:p>
        </p:txBody>
      </p:sp>
      <p:sp>
        <p:nvSpPr>
          <p:cNvPr id="4" name="Shape 2"/>
          <p:cNvSpPr/>
          <p:nvPr/>
        </p:nvSpPr>
        <p:spPr>
          <a:xfrm>
            <a:off x="548640" y="1143000"/>
            <a:ext cx="2743200" cy="0"/>
          </a:xfrm>
          <a:prstGeom prst="line">
            <a:avLst/>
          </a:prstGeom>
          <a:noFill/>
          <a:ln w="19050">
            <a:solidFill>
              <a:srgbClr val="02C39A"/>
            </a:solidFill>
            <a:prstDash val="solid"/>
          </a:ln>
        </p:spPr>
      </p:sp>
      <p:sp>
        <p:nvSpPr>
          <p:cNvPr id="5" name="Text 3"/>
          <p:cNvSpPr/>
          <p:nvPr/>
        </p:nvSpPr>
        <p:spPr>
          <a:xfrm>
            <a:off x="548640" y="1325880"/>
            <a:ext cx="594360" cy="82296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01</a:t>
            </a:r>
            <a:endParaRPr lang="en-US" sz="2800" dirty="0"/>
          </a:p>
        </p:txBody>
      </p:sp>
      <p:sp>
        <p:nvSpPr>
          <p:cNvPr id="6" name="Text 4"/>
          <p:cNvSpPr/>
          <p:nvPr/>
        </p:nvSpPr>
        <p:spPr>
          <a:xfrm>
            <a:off x="1234440" y="1371600"/>
            <a:ext cx="74066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RSPECT Fine-tuning (Path A)</a:t>
            </a:r>
            <a:endParaRPr lang="en-US" sz="1400" dirty="0"/>
          </a:p>
        </p:txBody>
      </p:sp>
      <p:sp>
        <p:nvSpPr>
          <p:cNvPr id="7" name="Text 5"/>
          <p:cNvSpPr/>
          <p:nvPr/>
        </p:nvSpPr>
        <p:spPr>
          <a:xfrm>
            <a:off x="1234440" y="1664208"/>
            <a:ext cx="7406640" cy="411480"/>
          </a:xfrm>
          <a:prstGeom prst="rect">
            <a:avLst/>
          </a:prstGeom>
          <a:noFill/>
          <a:ln/>
        </p:spPr>
        <p:txBody>
          <a:bodyPr wrap="square" lIns="0" tIns="0" rIns="0" bIns="0" rtlCol="0" anchor="ctr"/>
          <a:lstStyle/>
          <a:p>
            <a:pPr indent="0" marL="0">
              <a:buNone/>
            </a:pPr>
            <a:r>
              <a:rPr lang="en-US" sz="1100" dirty="0">
                <a:solidFill>
                  <a:srgbClr val="A8D8EA"/>
                </a:solidFill>
                <a:latin typeface="Calibri" pitchFamily="34" charset="0"/>
                <a:ea typeface="Calibri" pitchFamily="34" charset="-122"/>
                <a:cs typeface="Calibri" pitchFamily="34" charset="-120"/>
              </a:rPr>
              <a:t>Download RSNA 2020 PE dataset from Kaggle → fine-tune ResNetV2-101×3 → re-vectorize 23,340 INSPECT CTPAs</a:t>
            </a:r>
            <a:endParaRPr lang="en-US" sz="1100" dirty="0"/>
          </a:p>
        </p:txBody>
      </p:sp>
      <p:sp>
        <p:nvSpPr>
          <p:cNvPr id="8" name="Shape 6"/>
          <p:cNvSpPr/>
          <p:nvPr/>
        </p:nvSpPr>
        <p:spPr>
          <a:xfrm>
            <a:off x="548640" y="2194560"/>
            <a:ext cx="8229600" cy="0"/>
          </a:xfrm>
          <a:prstGeom prst="line">
            <a:avLst/>
          </a:prstGeom>
          <a:noFill/>
          <a:ln w="6350">
            <a:solidFill>
              <a:srgbClr val="1C4A5F"/>
            </a:solidFill>
            <a:prstDash val="solid"/>
          </a:ln>
        </p:spPr>
      </p:sp>
      <p:sp>
        <p:nvSpPr>
          <p:cNvPr id="9" name="Text 7"/>
          <p:cNvSpPr/>
          <p:nvPr/>
        </p:nvSpPr>
        <p:spPr>
          <a:xfrm>
            <a:off x="548640" y="2240280"/>
            <a:ext cx="594360" cy="82296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02</a:t>
            </a:r>
            <a:endParaRPr lang="en-US" sz="2800" dirty="0"/>
          </a:p>
        </p:txBody>
      </p:sp>
      <p:sp>
        <p:nvSpPr>
          <p:cNvPr id="10" name="Text 8"/>
          <p:cNvSpPr/>
          <p:nvPr/>
        </p:nvSpPr>
        <p:spPr>
          <a:xfrm>
            <a:off x="1234440" y="2286000"/>
            <a:ext cx="74066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TTE Embeddings (Path B)</a:t>
            </a:r>
            <a:endParaRPr lang="en-US" sz="1400" dirty="0"/>
          </a:p>
        </p:txBody>
      </p:sp>
      <p:sp>
        <p:nvSpPr>
          <p:cNvPr id="11" name="Text 9"/>
          <p:cNvSpPr/>
          <p:nvPr/>
        </p:nvSpPr>
        <p:spPr>
          <a:xfrm>
            <a:off x="1234440" y="2578608"/>
            <a:ext cx="7406640" cy="411480"/>
          </a:xfrm>
          <a:prstGeom prst="rect">
            <a:avLst/>
          </a:prstGeom>
          <a:noFill/>
          <a:ln/>
        </p:spPr>
        <p:txBody>
          <a:bodyPr wrap="square" lIns="0" tIns="0" rIns="0" bIns="0" rtlCol="0" anchor="ctr"/>
          <a:lstStyle/>
          <a:p>
            <a:pPr indent="0" marL="0">
              <a:buNone/>
            </a:pPr>
            <a:r>
              <a:rPr lang="en-US" sz="1100" dirty="0">
                <a:solidFill>
                  <a:srgbClr val="A8D8EA"/>
                </a:solidFill>
                <a:latin typeface="Calibri" pitchFamily="34" charset="0"/>
                <a:ea typeface="Calibri" pitchFamily="34" charset="-122"/>
                <a:cs typeface="Calibri" pitchFamily="34" charset="-120"/>
              </a:rPr>
              <a:t>Download StanfordShahLab/image-models from HuggingFace → extract DenseNet-121 TTE embeddings → linear probe (all 8 prediction tasks)</a:t>
            </a:r>
            <a:endParaRPr lang="en-US" sz="1100" dirty="0"/>
          </a:p>
        </p:txBody>
      </p:sp>
      <p:sp>
        <p:nvSpPr>
          <p:cNvPr id="12" name="Shape 10"/>
          <p:cNvSpPr/>
          <p:nvPr/>
        </p:nvSpPr>
        <p:spPr>
          <a:xfrm>
            <a:off x="548640" y="3108960"/>
            <a:ext cx="8229600" cy="0"/>
          </a:xfrm>
          <a:prstGeom prst="line">
            <a:avLst/>
          </a:prstGeom>
          <a:noFill/>
          <a:ln w="6350">
            <a:solidFill>
              <a:srgbClr val="1C4A5F"/>
            </a:solidFill>
            <a:prstDash val="solid"/>
          </a:ln>
        </p:spPr>
      </p:sp>
      <p:sp>
        <p:nvSpPr>
          <p:cNvPr id="13" name="Text 11"/>
          <p:cNvSpPr/>
          <p:nvPr/>
        </p:nvSpPr>
        <p:spPr>
          <a:xfrm>
            <a:off x="548640" y="3154680"/>
            <a:ext cx="594360" cy="82296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03</a:t>
            </a:r>
            <a:endParaRPr lang="en-US" sz="2800" dirty="0"/>
          </a:p>
        </p:txBody>
      </p:sp>
      <p:sp>
        <p:nvSpPr>
          <p:cNvPr id="14" name="Text 12"/>
          <p:cNvSpPr/>
          <p:nvPr/>
        </p:nvSpPr>
        <p:spPr>
          <a:xfrm>
            <a:off x="1234440" y="3200400"/>
            <a:ext cx="74066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Multimodal Fusion</a:t>
            </a:r>
            <a:endParaRPr lang="en-US" sz="1400" dirty="0"/>
          </a:p>
        </p:txBody>
      </p:sp>
      <p:sp>
        <p:nvSpPr>
          <p:cNvPr id="15" name="Text 13"/>
          <p:cNvSpPr/>
          <p:nvPr/>
        </p:nvSpPr>
        <p:spPr>
          <a:xfrm>
            <a:off x="1234440" y="3493008"/>
            <a:ext cx="7406640" cy="411480"/>
          </a:xfrm>
          <a:prstGeom prst="rect">
            <a:avLst/>
          </a:prstGeom>
          <a:noFill/>
          <a:ln/>
        </p:spPr>
        <p:txBody>
          <a:bodyPr wrap="square" lIns="0" tIns="0" rIns="0" bIns="0" rtlCol="0" anchor="ctr"/>
          <a:lstStyle/>
          <a:p>
            <a:pPr indent="0" marL="0">
              <a:buNone/>
            </a:pPr>
            <a:r>
              <a:rPr lang="en-US" sz="1100" dirty="0">
                <a:solidFill>
                  <a:srgbClr val="A8D8EA"/>
                </a:solidFill>
                <a:latin typeface="Calibri" pitchFamily="34" charset="0"/>
                <a:ea typeface="Calibri" pitchFamily="34" charset="-122"/>
                <a:cs typeface="Calibri" pitchFamily="34" charset="-120"/>
              </a:rPr>
              <a:t>Late-fusion of GBM (EHR) + image embeddings → reproduce Table 1 from INSPECT paper with both Path A and Path B</a:t>
            </a:r>
            <a:endParaRPr lang="en-US" sz="1100" dirty="0"/>
          </a:p>
        </p:txBody>
      </p:sp>
      <p:sp>
        <p:nvSpPr>
          <p:cNvPr id="16" name="Shape 14"/>
          <p:cNvSpPr/>
          <p:nvPr/>
        </p:nvSpPr>
        <p:spPr>
          <a:xfrm>
            <a:off x="548640" y="4023360"/>
            <a:ext cx="8229600" cy="0"/>
          </a:xfrm>
          <a:prstGeom prst="line">
            <a:avLst/>
          </a:prstGeom>
          <a:noFill/>
          <a:ln w="6350">
            <a:solidFill>
              <a:srgbClr val="1C4A5F"/>
            </a:solidFill>
            <a:prstDash val="solid"/>
          </a:ln>
        </p:spPr>
      </p:sp>
      <p:sp>
        <p:nvSpPr>
          <p:cNvPr id="17" name="Text 15"/>
          <p:cNvSpPr/>
          <p:nvPr/>
        </p:nvSpPr>
        <p:spPr>
          <a:xfrm>
            <a:off x="548640" y="4069080"/>
            <a:ext cx="594360" cy="82296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04</a:t>
            </a:r>
            <a:endParaRPr lang="en-US" sz="2800" dirty="0"/>
          </a:p>
        </p:txBody>
      </p:sp>
      <p:sp>
        <p:nvSpPr>
          <p:cNvPr id="18" name="Text 16"/>
          <p:cNvSpPr/>
          <p:nvPr/>
        </p:nvSpPr>
        <p:spPr>
          <a:xfrm>
            <a:off x="1234440" y="4114800"/>
            <a:ext cx="74066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Author Clarification on AUROC Gap</a:t>
            </a:r>
            <a:endParaRPr lang="en-US" sz="1400" dirty="0"/>
          </a:p>
        </p:txBody>
      </p:sp>
      <p:sp>
        <p:nvSpPr>
          <p:cNvPr id="19" name="Text 17"/>
          <p:cNvSpPr/>
          <p:nvPr/>
        </p:nvSpPr>
        <p:spPr>
          <a:xfrm>
            <a:off x="1234440" y="4407408"/>
            <a:ext cx="7406640" cy="411480"/>
          </a:xfrm>
          <a:prstGeom prst="rect">
            <a:avLst/>
          </a:prstGeom>
          <a:noFill/>
          <a:ln/>
        </p:spPr>
        <p:txBody>
          <a:bodyPr wrap="square" lIns="0" tIns="0" rIns="0" bIns="0" rtlCol="0" anchor="ctr"/>
          <a:lstStyle/>
          <a:p>
            <a:pPr indent="0" marL="0">
              <a:buNone/>
            </a:pPr>
            <a:r>
              <a:rPr lang="en-US" sz="1100" dirty="0">
                <a:solidFill>
                  <a:srgbClr val="A8D8EA"/>
                </a:solidFill>
                <a:latin typeface="Calibri" pitchFamily="34" charset="0"/>
                <a:ea typeface="Calibri" pitchFamily="34" charset="-122"/>
                <a:cs typeface="Calibri" pitchFamily="34" charset="-120"/>
              </a:rPr>
              <a:t>Confirm label file version used in paper to resolve the consistent +0.04–0.09 AUROC offset across all tasks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INSPECT Reconstruction – PI Update</dc:title>
  <dc:subject>PptxGenJS Presentation</dc:subject>
  <dc:creator>PptxGenJS</dc:creator>
  <cp:lastModifiedBy>PptxGenJS</cp:lastModifiedBy>
  <cp:revision>1</cp:revision>
  <dcterms:created xsi:type="dcterms:W3CDTF">2026-07-02T10:23:35Z</dcterms:created>
  <dcterms:modified xsi:type="dcterms:W3CDTF">2026-07-02T10:23:35Z</dcterms:modified>
</cp:coreProperties>
</file>